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Calibri (MS) Bold" charset="1" panose="020F0702030404030204"/>
      <p:regular r:id="rId10"/>
    </p:embeddedFont>
    <p:embeddedFont>
      <p:font typeface="Calibri (MS)" charset="1" panose="020F0502020204030204"/>
      <p:regular r:id="rId11"/>
    </p:embeddedFont>
    <p:embeddedFont>
      <p:font typeface="Times New Roman Bold" charset="1" panose="02020803070505020304"/>
      <p:regular r:id="rId12"/>
    </p:embeddedFont>
    <p:embeddedFont>
      <p:font typeface="Canva Sans Bold" charset="1" panose="020B0803030501040103"/>
      <p:regular r:id="rId13"/>
    </p:embeddedFont>
    <p:embeddedFont>
      <p:font typeface="Anton" charset="1" panose="00000500000000000000"/>
      <p:regular r:id="rId14"/>
    </p:embeddedFont>
    <p:embeddedFont>
      <p:font typeface="Open Sans Bold" charset="1" panose="00000000000000000000"/>
      <p:regular r:id="rId15"/>
    </p:embeddedFont>
    <p:embeddedFont>
      <p:font typeface="Open Sans" charset="1" panose="00000000000000000000"/>
      <p:regular r:id="rId16"/>
    </p:embeddedFont>
    <p:embeddedFont>
      <p:font typeface="Poppins Bold" charset="1" panose="000008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png" Type="http://schemas.openxmlformats.org/officeDocument/2006/relationships/image"/><Relationship Id="rId12" Target="../media/image12.png" Type="http://schemas.openxmlformats.org/officeDocument/2006/relationships/image"/><Relationship Id="rId13" Target="../media/image13.png" Type="http://schemas.openxmlformats.org/officeDocument/2006/relationships/image"/><Relationship Id="rId14" Target="../media/image14.png" Type="http://schemas.openxmlformats.org/officeDocument/2006/relationships/image"/><Relationship Id="rId15" Target="../media/image15.png" Type="http://schemas.openxmlformats.org/officeDocument/2006/relationships/image"/><Relationship Id="rId16" Target="../media/image16.png" Type="http://schemas.openxmlformats.org/officeDocument/2006/relationships/image"/><Relationship Id="rId17" Target="../media/image17.png" Type="http://schemas.openxmlformats.org/officeDocument/2006/relationships/image"/><Relationship Id="rId18" Target="../media/image18.svg" Type="http://schemas.openxmlformats.org/officeDocument/2006/relationships/image"/><Relationship Id="rId19" Target="../media/image1.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png" Type="http://schemas.openxmlformats.org/officeDocument/2006/relationships/image"/><Relationship Id="rId12" Target="../media/image1.png" Type="http://schemas.openxmlformats.org/officeDocument/2006/relationships/image"/><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26542" y="-132355"/>
            <a:ext cx="1104745" cy="1510762"/>
          </a:xfrm>
          <a:custGeom>
            <a:avLst/>
            <a:gdLst/>
            <a:ahLst/>
            <a:cxnLst/>
            <a:rect r="r" b="b" t="t" l="l"/>
            <a:pathLst>
              <a:path h="1510762" w="1104745">
                <a:moveTo>
                  <a:pt x="0" y="0"/>
                </a:moveTo>
                <a:lnTo>
                  <a:pt x="1104745" y="0"/>
                </a:lnTo>
                <a:lnTo>
                  <a:pt x="1104745" y="1510762"/>
                </a:lnTo>
                <a:lnTo>
                  <a:pt x="0" y="1510762"/>
                </a:lnTo>
                <a:lnTo>
                  <a:pt x="0" y="0"/>
                </a:lnTo>
                <a:close/>
              </a:path>
            </a:pathLst>
          </a:custGeom>
          <a:blipFill>
            <a:blip r:embed="rId2"/>
            <a:stretch>
              <a:fillRect l="0" t="0" r="0" b="0"/>
            </a:stretch>
          </a:blipFill>
        </p:spPr>
      </p:sp>
      <p:grpSp>
        <p:nvGrpSpPr>
          <p:cNvPr name="Group 3" id="3"/>
          <p:cNvGrpSpPr/>
          <p:nvPr/>
        </p:nvGrpSpPr>
        <p:grpSpPr>
          <a:xfrm rot="0">
            <a:off x="332180" y="2935698"/>
            <a:ext cx="17605135" cy="7188333"/>
            <a:chOff x="0" y="0"/>
            <a:chExt cx="4636743" cy="1893224"/>
          </a:xfrm>
        </p:grpSpPr>
        <p:sp>
          <p:nvSpPr>
            <p:cNvPr name="Freeform 4" id="4"/>
            <p:cNvSpPr/>
            <p:nvPr/>
          </p:nvSpPr>
          <p:spPr>
            <a:xfrm flipH="false" flipV="false" rot="0">
              <a:off x="0" y="0"/>
              <a:ext cx="4636743" cy="1893224"/>
            </a:xfrm>
            <a:custGeom>
              <a:avLst/>
              <a:gdLst/>
              <a:ahLst/>
              <a:cxnLst/>
              <a:rect r="r" b="b" t="t" l="l"/>
              <a:pathLst>
                <a:path h="1893224" w="4636743">
                  <a:moveTo>
                    <a:pt x="0" y="0"/>
                  </a:moveTo>
                  <a:lnTo>
                    <a:pt x="4636743" y="0"/>
                  </a:lnTo>
                  <a:lnTo>
                    <a:pt x="4636743" y="1893224"/>
                  </a:lnTo>
                  <a:lnTo>
                    <a:pt x="0" y="1893224"/>
                  </a:lnTo>
                  <a:close/>
                </a:path>
              </a:pathLst>
            </a:custGeom>
            <a:solidFill>
              <a:srgbClr val="F0E1F6"/>
            </a:solidFill>
            <a:ln w="19050" cap="sq">
              <a:solidFill>
                <a:srgbClr val="000000"/>
              </a:solidFill>
              <a:prstDash val="solid"/>
              <a:miter/>
            </a:ln>
          </p:spPr>
        </p:sp>
        <p:sp>
          <p:nvSpPr>
            <p:cNvPr name="TextBox 5" id="5"/>
            <p:cNvSpPr txBox="true"/>
            <p:nvPr/>
          </p:nvSpPr>
          <p:spPr>
            <a:xfrm>
              <a:off x="0" y="-19050"/>
              <a:ext cx="4636743" cy="1912274"/>
            </a:xfrm>
            <a:prstGeom prst="rect">
              <a:avLst/>
            </a:prstGeom>
          </p:spPr>
          <p:txBody>
            <a:bodyPr anchor="ctr" rtlCol="false" tIns="50800" lIns="50800" bIns="50800" rIns="50800"/>
            <a:lstStyle/>
            <a:p>
              <a:pPr algn="ctr">
                <a:lnSpc>
                  <a:spcPts val="1986"/>
                </a:lnSpc>
              </a:pPr>
            </a:p>
          </p:txBody>
        </p:sp>
      </p:grpSp>
      <p:sp>
        <p:nvSpPr>
          <p:cNvPr name="TextBox 6" id="6"/>
          <p:cNvSpPr txBox="true"/>
          <p:nvPr/>
        </p:nvSpPr>
        <p:spPr>
          <a:xfrm rot="0">
            <a:off x="645181" y="3820306"/>
            <a:ext cx="16688105" cy="2567262"/>
          </a:xfrm>
          <a:prstGeom prst="rect">
            <a:avLst/>
          </a:prstGeom>
        </p:spPr>
        <p:txBody>
          <a:bodyPr anchor="t" rtlCol="false" tIns="0" lIns="0" bIns="0" rIns="0">
            <a:spAutoFit/>
          </a:bodyPr>
          <a:lstStyle/>
          <a:p>
            <a:pPr algn="l">
              <a:lnSpc>
                <a:spcPts val="3359"/>
              </a:lnSpc>
            </a:pPr>
            <a:r>
              <a:rPr lang="en-US" b="true" sz="2832">
                <a:solidFill>
                  <a:srgbClr val="000000"/>
                </a:solidFill>
                <a:latin typeface="Calibri (MS) Bold"/>
                <a:ea typeface="Calibri (MS) Bold"/>
                <a:cs typeface="Calibri (MS) Bold"/>
                <a:sym typeface="Calibri (MS) Bold"/>
              </a:rPr>
              <a:t>Problem Statement: </a:t>
            </a:r>
            <a:r>
              <a:rPr lang="en-US" sz="2832">
                <a:solidFill>
                  <a:srgbClr val="000000"/>
                </a:solidFill>
                <a:latin typeface="Calibri (MS)"/>
                <a:ea typeface="Calibri (MS)"/>
                <a:cs typeface="Calibri (MS)"/>
                <a:sym typeface="Calibri (MS)"/>
              </a:rPr>
              <a:t>Restaurants, grocery stores, and bakeries often have surplus food that goes unsold and ends up being wasted as it approaches expiration. This project proposes an AI-powered marketplace platform that connects these businesses with nearby consumers to sell surplus food at discounted prices before it expires. The platform will include inventory management, dynamic pricing based on demand and expiry time, and location-based discovery to help users find nearby deals easily. By leveraging AI-driven insights, the system aims to reduce food waste, improve food accessibility, and help businesses recover value from unsold inventory.</a:t>
            </a:r>
          </a:p>
        </p:txBody>
      </p:sp>
      <p:sp>
        <p:nvSpPr>
          <p:cNvPr name="TextBox 7" id="7"/>
          <p:cNvSpPr txBox="true"/>
          <p:nvPr/>
        </p:nvSpPr>
        <p:spPr>
          <a:xfrm rot="0">
            <a:off x="6026001" y="85725"/>
            <a:ext cx="5668685" cy="1160327"/>
          </a:xfrm>
          <a:prstGeom prst="rect">
            <a:avLst/>
          </a:prstGeom>
        </p:spPr>
        <p:txBody>
          <a:bodyPr anchor="t" rtlCol="false" tIns="0" lIns="0" bIns="0" rIns="0">
            <a:spAutoFit/>
          </a:bodyPr>
          <a:lstStyle/>
          <a:p>
            <a:pPr algn="l">
              <a:lnSpc>
                <a:spcPts val="8502"/>
              </a:lnSpc>
            </a:pPr>
            <a:r>
              <a:rPr lang="en-US" b="true" sz="8198">
                <a:solidFill>
                  <a:srgbClr val="620E0E"/>
                </a:solidFill>
                <a:latin typeface="Times New Roman Bold"/>
                <a:ea typeface="Times New Roman Bold"/>
                <a:cs typeface="Times New Roman Bold"/>
                <a:sym typeface="Times New Roman Bold"/>
              </a:rPr>
              <a:t>Codekshetra</a:t>
            </a:r>
          </a:p>
        </p:txBody>
      </p:sp>
      <p:sp>
        <p:nvSpPr>
          <p:cNvPr name="TextBox 8" id="8"/>
          <p:cNvSpPr txBox="true"/>
          <p:nvPr/>
        </p:nvSpPr>
        <p:spPr>
          <a:xfrm rot="0">
            <a:off x="6483153" y="674399"/>
            <a:ext cx="128254" cy="1175680"/>
          </a:xfrm>
          <a:prstGeom prst="rect">
            <a:avLst/>
          </a:prstGeom>
        </p:spPr>
        <p:txBody>
          <a:bodyPr anchor="t" rtlCol="false" tIns="0" lIns="0" bIns="0" rIns="0">
            <a:spAutoFit/>
          </a:bodyPr>
          <a:lstStyle/>
          <a:p>
            <a:pPr algn="l">
              <a:lnSpc>
                <a:spcPts val="10494"/>
              </a:lnSpc>
            </a:pPr>
            <a:r>
              <a:rPr lang="en-US" b="true" sz="4197">
                <a:solidFill>
                  <a:srgbClr val="000000"/>
                </a:solidFill>
                <a:latin typeface="Canva Sans Bold"/>
                <a:ea typeface="Canva Sans Bold"/>
                <a:cs typeface="Canva Sans Bold"/>
                <a:sym typeface="Canva Sans Bold"/>
              </a:rPr>
              <a:t> </a:t>
            </a:r>
          </a:p>
        </p:txBody>
      </p:sp>
      <p:sp>
        <p:nvSpPr>
          <p:cNvPr name="TextBox 9" id="9"/>
          <p:cNvSpPr txBox="true"/>
          <p:nvPr/>
        </p:nvSpPr>
        <p:spPr>
          <a:xfrm rot="0">
            <a:off x="600189" y="3050953"/>
            <a:ext cx="5636181" cy="612610"/>
          </a:xfrm>
          <a:prstGeom prst="rect">
            <a:avLst/>
          </a:prstGeom>
        </p:spPr>
        <p:txBody>
          <a:bodyPr anchor="t" rtlCol="false" tIns="0" lIns="0" bIns="0" rIns="0">
            <a:spAutoFit/>
          </a:bodyPr>
          <a:lstStyle/>
          <a:p>
            <a:pPr algn="l">
              <a:lnSpc>
                <a:spcPts val="4559"/>
              </a:lnSpc>
            </a:pPr>
            <a:r>
              <a:rPr lang="en-US" b="true" sz="3256">
                <a:solidFill>
                  <a:srgbClr val="000000"/>
                </a:solidFill>
                <a:latin typeface="Calibri (MS) Bold"/>
                <a:ea typeface="Calibri (MS) Bold"/>
                <a:cs typeface="Calibri (MS) Bold"/>
                <a:sym typeface="Calibri (MS) Bold"/>
              </a:rPr>
              <a:t>Domain:</a:t>
            </a:r>
            <a:r>
              <a:rPr lang="en-US" sz="3256">
                <a:solidFill>
                  <a:srgbClr val="000000"/>
                </a:solidFill>
                <a:latin typeface="Calibri (MS)"/>
                <a:ea typeface="Calibri (MS)"/>
                <a:cs typeface="Calibri (MS)"/>
                <a:sym typeface="Calibri (MS)"/>
              </a:rPr>
              <a:t> AI- Driven Social Impact </a:t>
            </a:r>
          </a:p>
        </p:txBody>
      </p:sp>
      <p:sp>
        <p:nvSpPr>
          <p:cNvPr name="TextBox 10" id="10"/>
          <p:cNvSpPr txBox="true"/>
          <p:nvPr/>
        </p:nvSpPr>
        <p:spPr>
          <a:xfrm rot="0">
            <a:off x="600189" y="6643618"/>
            <a:ext cx="5105495" cy="1023595"/>
          </a:xfrm>
          <a:prstGeom prst="rect">
            <a:avLst/>
          </a:prstGeom>
        </p:spPr>
        <p:txBody>
          <a:bodyPr anchor="t" rtlCol="false" tIns="0" lIns="0" bIns="0" rIns="0">
            <a:spAutoFit/>
          </a:bodyPr>
          <a:lstStyle/>
          <a:p>
            <a:pPr algn="l">
              <a:lnSpc>
                <a:spcPts val="3956"/>
              </a:lnSpc>
            </a:pPr>
            <a:r>
              <a:rPr lang="en-US" b="true" sz="2826">
                <a:solidFill>
                  <a:srgbClr val="000000"/>
                </a:solidFill>
                <a:latin typeface="Calibri (MS) Bold"/>
                <a:ea typeface="Calibri (MS) Bold"/>
                <a:cs typeface="Calibri (MS) Bold"/>
                <a:sym typeface="Calibri (MS) Bold"/>
              </a:rPr>
              <a:t>Team Name: </a:t>
            </a:r>
            <a:r>
              <a:rPr lang="en-US" sz="2826">
                <a:solidFill>
                  <a:srgbClr val="000000"/>
                </a:solidFill>
                <a:latin typeface="Calibri (MS)"/>
                <a:ea typeface="Calibri (MS)"/>
                <a:cs typeface="Calibri (MS)"/>
                <a:sym typeface="Calibri (MS)"/>
              </a:rPr>
              <a:t>Ggryffindor</a:t>
            </a:r>
          </a:p>
          <a:p>
            <a:pPr algn="l">
              <a:lnSpc>
                <a:spcPts val="3956"/>
              </a:lnSpc>
            </a:pPr>
            <a:r>
              <a:rPr lang="en-US" b="true" sz="2826">
                <a:solidFill>
                  <a:srgbClr val="000000"/>
                </a:solidFill>
                <a:latin typeface="Calibri (MS) Bold"/>
                <a:ea typeface="Calibri (MS) Bold"/>
                <a:cs typeface="Calibri (MS) Bold"/>
                <a:sym typeface="Calibri (MS) Bold"/>
              </a:rPr>
              <a:t>Team Members:</a:t>
            </a:r>
            <a:r>
              <a:rPr lang="en-US" sz="2826">
                <a:solidFill>
                  <a:srgbClr val="000000"/>
                </a:solidFill>
                <a:latin typeface="Calibri (MS)"/>
                <a:ea typeface="Calibri (MS)"/>
                <a:cs typeface="Calibri (MS)"/>
                <a:sym typeface="Calibri (MS)"/>
              </a:rPr>
              <a:t> </a:t>
            </a:r>
          </a:p>
        </p:txBody>
      </p:sp>
      <p:sp>
        <p:nvSpPr>
          <p:cNvPr name="TextBox 11" id="11"/>
          <p:cNvSpPr txBox="true"/>
          <p:nvPr/>
        </p:nvSpPr>
        <p:spPr>
          <a:xfrm rot="0">
            <a:off x="3152937" y="7273393"/>
            <a:ext cx="3867518" cy="1701336"/>
          </a:xfrm>
          <a:prstGeom prst="rect">
            <a:avLst/>
          </a:prstGeom>
        </p:spPr>
        <p:txBody>
          <a:bodyPr anchor="t" rtlCol="false" tIns="0" lIns="0" bIns="0" rIns="0">
            <a:spAutoFit/>
          </a:bodyPr>
          <a:lstStyle/>
          <a:p>
            <a:pPr algn="l" marL="588597" indent="-294299" lvl="1">
              <a:lnSpc>
                <a:spcPts val="3225"/>
              </a:lnSpc>
              <a:buAutoNum type="arabicPeriod" startAt="1"/>
            </a:pPr>
            <a:r>
              <a:rPr lang="en-US" sz="2726">
                <a:solidFill>
                  <a:srgbClr val="000000"/>
                </a:solidFill>
                <a:latin typeface="Calibri (MS)"/>
                <a:ea typeface="Calibri (MS)"/>
                <a:cs typeface="Calibri (MS)"/>
                <a:sym typeface="Calibri (MS)"/>
              </a:rPr>
              <a:t>Shravani Kurkute</a:t>
            </a:r>
          </a:p>
          <a:p>
            <a:pPr algn="l" marL="588597" indent="-294299" lvl="1">
              <a:lnSpc>
                <a:spcPts val="3225"/>
              </a:lnSpc>
              <a:buAutoNum type="arabicPeriod" startAt="1"/>
            </a:pPr>
            <a:r>
              <a:rPr lang="en-US" sz="2726">
                <a:solidFill>
                  <a:srgbClr val="000000"/>
                </a:solidFill>
                <a:latin typeface="Calibri (MS)"/>
                <a:ea typeface="Calibri (MS)"/>
                <a:cs typeface="Calibri (MS)"/>
                <a:sym typeface="Calibri (MS)"/>
              </a:rPr>
              <a:t>Tushar Neje</a:t>
            </a:r>
          </a:p>
          <a:p>
            <a:pPr algn="l" marL="588597" indent="-294299" lvl="1">
              <a:lnSpc>
                <a:spcPts val="3225"/>
              </a:lnSpc>
              <a:buAutoNum type="arabicPeriod" startAt="1"/>
            </a:pPr>
            <a:r>
              <a:rPr lang="en-US" sz="2726">
                <a:solidFill>
                  <a:srgbClr val="000000"/>
                </a:solidFill>
                <a:latin typeface="Calibri (MS)"/>
                <a:ea typeface="Calibri (MS)"/>
                <a:cs typeface="Calibri (MS)"/>
                <a:sym typeface="Calibri (MS)"/>
              </a:rPr>
              <a:t>Nayan Kesare</a:t>
            </a:r>
          </a:p>
          <a:p>
            <a:pPr algn="l" marL="588597" indent="-294299" lvl="1">
              <a:lnSpc>
                <a:spcPts val="3225"/>
              </a:lnSpc>
              <a:buAutoNum type="arabicPeriod" startAt="1"/>
            </a:pPr>
            <a:r>
              <a:rPr lang="en-US" sz="2726">
                <a:solidFill>
                  <a:srgbClr val="000000"/>
                </a:solidFill>
                <a:latin typeface="Calibri (MS)"/>
                <a:ea typeface="Calibri (MS)"/>
                <a:cs typeface="Calibri (MS)"/>
                <a:sym typeface="Calibri (MS)"/>
              </a:rPr>
              <a:t>Vaishnavi Mane</a:t>
            </a:r>
          </a:p>
        </p:txBody>
      </p:sp>
      <p:sp>
        <p:nvSpPr>
          <p:cNvPr name="TextBox 12" id="12"/>
          <p:cNvSpPr txBox="true"/>
          <p:nvPr/>
        </p:nvSpPr>
        <p:spPr>
          <a:xfrm rot="0">
            <a:off x="436530" y="9303830"/>
            <a:ext cx="10134543" cy="555212"/>
          </a:xfrm>
          <a:prstGeom prst="rect">
            <a:avLst/>
          </a:prstGeom>
        </p:spPr>
        <p:txBody>
          <a:bodyPr anchor="t" rtlCol="false" tIns="0" lIns="0" bIns="0" rIns="0">
            <a:spAutoFit/>
          </a:bodyPr>
          <a:lstStyle/>
          <a:p>
            <a:pPr algn="l">
              <a:lnSpc>
                <a:spcPts val="4096"/>
              </a:lnSpc>
            </a:pPr>
            <a:r>
              <a:rPr lang="en-US" b="true" sz="2925">
                <a:solidFill>
                  <a:srgbClr val="000000"/>
                </a:solidFill>
                <a:latin typeface="Calibri (MS) Bold"/>
                <a:ea typeface="Calibri (MS) Bold"/>
                <a:cs typeface="Calibri (MS) Bold"/>
                <a:sym typeface="Calibri (MS) Bold"/>
              </a:rPr>
              <a:t>College Name: </a:t>
            </a:r>
            <a:r>
              <a:rPr lang="en-US" sz="2925">
                <a:solidFill>
                  <a:srgbClr val="000000"/>
                </a:solidFill>
                <a:latin typeface="Calibri (MS)"/>
                <a:ea typeface="Calibri (MS)"/>
                <a:cs typeface="Calibri (MS)"/>
                <a:sym typeface="Calibri (MS)"/>
              </a:rPr>
              <a:t>Vishwakarma Institute Of Information Technology </a:t>
            </a:r>
          </a:p>
        </p:txBody>
      </p:sp>
      <p:sp>
        <p:nvSpPr>
          <p:cNvPr name="TextBox 13" id="13"/>
          <p:cNvSpPr txBox="true"/>
          <p:nvPr/>
        </p:nvSpPr>
        <p:spPr>
          <a:xfrm rot="0">
            <a:off x="694144" y="1360199"/>
            <a:ext cx="16332398" cy="466841"/>
          </a:xfrm>
          <a:prstGeom prst="rect">
            <a:avLst/>
          </a:prstGeom>
        </p:spPr>
        <p:txBody>
          <a:bodyPr anchor="t" rtlCol="false" tIns="0" lIns="0" bIns="0" rIns="0">
            <a:spAutoFit/>
          </a:bodyPr>
          <a:lstStyle/>
          <a:p>
            <a:pPr algn="l">
              <a:lnSpc>
                <a:spcPts val="3236"/>
              </a:lnSpc>
            </a:pPr>
            <a:r>
              <a:rPr lang="en-US" b="true" sz="4197">
                <a:solidFill>
                  <a:srgbClr val="000000"/>
                </a:solidFill>
                <a:latin typeface="Canva Sans Bold"/>
                <a:ea typeface="Canva Sans Bold"/>
                <a:cs typeface="Canva Sans Bold"/>
                <a:sym typeface="Canva Sans Bold"/>
              </a:rPr>
              <a:t>Title: RePlate: An AI-Driven Smart Surplus Food Redistribution </a:t>
            </a:r>
          </a:p>
        </p:txBody>
      </p:sp>
      <p:sp>
        <p:nvSpPr>
          <p:cNvPr name="TextBox 14" id="14"/>
          <p:cNvSpPr txBox="true"/>
          <p:nvPr/>
        </p:nvSpPr>
        <p:spPr>
          <a:xfrm rot="0">
            <a:off x="1546041" y="1709966"/>
            <a:ext cx="14381084" cy="520881"/>
          </a:xfrm>
          <a:prstGeom prst="rect">
            <a:avLst/>
          </a:prstGeom>
        </p:spPr>
        <p:txBody>
          <a:bodyPr anchor="t" rtlCol="false" tIns="0" lIns="0" bIns="0" rIns="0">
            <a:spAutoFit/>
          </a:bodyPr>
          <a:lstStyle/>
          <a:p>
            <a:pPr algn="l">
              <a:lnSpc>
                <a:spcPts val="4660"/>
              </a:lnSpc>
            </a:pPr>
            <a:r>
              <a:rPr lang="en-US" b="true" sz="1864">
                <a:solidFill>
                  <a:srgbClr val="004AAD"/>
                </a:solidFill>
                <a:latin typeface="Canva Sans Bold"/>
                <a:ea typeface="Canva Sans Bold"/>
                <a:cs typeface="Canva Sans Bold"/>
                <a:sym typeface="Canva Sans Bold"/>
              </a:rPr>
              <a:t>“Connecting surplus food to consumers while reducing carbon emissions and food waste through real-time impact tracking”.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2450611" cy="1682306"/>
          </a:xfrm>
          <a:custGeom>
            <a:avLst/>
            <a:gdLst/>
            <a:ahLst/>
            <a:cxnLst/>
            <a:rect r="r" b="b" t="t" l="l"/>
            <a:pathLst>
              <a:path h="1682306" w="2450611">
                <a:moveTo>
                  <a:pt x="0" y="0"/>
                </a:moveTo>
                <a:lnTo>
                  <a:pt x="2450611" y="0"/>
                </a:lnTo>
                <a:lnTo>
                  <a:pt x="2450611" y="1682305"/>
                </a:lnTo>
                <a:lnTo>
                  <a:pt x="0" y="16823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502267" y="4095540"/>
            <a:ext cx="2703909" cy="6010275"/>
            <a:chOff x="0" y="0"/>
            <a:chExt cx="3605212" cy="8013700"/>
          </a:xfrm>
        </p:grpSpPr>
        <p:sp>
          <p:nvSpPr>
            <p:cNvPr name="Freeform 4" id="4"/>
            <p:cNvSpPr/>
            <p:nvPr/>
          </p:nvSpPr>
          <p:spPr>
            <a:xfrm flipH="true" flipV="false" rot="0">
              <a:off x="0" y="0"/>
              <a:ext cx="3605276" cy="8013700"/>
            </a:xfrm>
            <a:custGeom>
              <a:avLst/>
              <a:gdLst/>
              <a:ahLst/>
              <a:cxnLst/>
              <a:rect r="r" b="b" t="t" l="l"/>
              <a:pathLst>
                <a:path h="8013700" w="3605276">
                  <a:moveTo>
                    <a:pt x="3605276" y="0"/>
                  </a:moveTo>
                  <a:lnTo>
                    <a:pt x="0" y="0"/>
                  </a:lnTo>
                  <a:lnTo>
                    <a:pt x="0" y="8013700"/>
                  </a:lnTo>
                  <a:lnTo>
                    <a:pt x="3605276" y="8013700"/>
                  </a:lnTo>
                  <a:lnTo>
                    <a:pt x="3605276" y="0"/>
                  </a:lnTo>
                  <a:close/>
                </a:path>
              </a:pathLst>
            </a:custGeom>
            <a:blipFill>
              <a:blip r:embed="rId4"/>
              <a:stretch>
                <a:fillRect l="-44" t="0" r="1" b="0"/>
              </a:stretch>
            </a:blipFill>
          </p:spPr>
        </p:sp>
      </p:grpSp>
      <p:grpSp>
        <p:nvGrpSpPr>
          <p:cNvPr name="Group 5" id="5"/>
          <p:cNvGrpSpPr/>
          <p:nvPr/>
        </p:nvGrpSpPr>
        <p:grpSpPr>
          <a:xfrm rot="0">
            <a:off x="2323367" y="4095540"/>
            <a:ext cx="2705100" cy="6010275"/>
            <a:chOff x="0" y="0"/>
            <a:chExt cx="3606800" cy="8013700"/>
          </a:xfrm>
        </p:grpSpPr>
        <p:sp>
          <p:nvSpPr>
            <p:cNvPr name="Freeform 6" id="6"/>
            <p:cNvSpPr/>
            <p:nvPr/>
          </p:nvSpPr>
          <p:spPr>
            <a:xfrm flipH="false" flipV="false" rot="0">
              <a:off x="0" y="0"/>
              <a:ext cx="3606800" cy="8013700"/>
            </a:xfrm>
            <a:custGeom>
              <a:avLst/>
              <a:gdLst/>
              <a:ahLst/>
              <a:cxnLst/>
              <a:rect r="r" b="b" t="t" l="l"/>
              <a:pathLst>
                <a:path h="8013700" w="3606800">
                  <a:moveTo>
                    <a:pt x="0" y="0"/>
                  </a:moveTo>
                  <a:lnTo>
                    <a:pt x="3606800" y="0"/>
                  </a:lnTo>
                  <a:lnTo>
                    <a:pt x="3606800" y="8013700"/>
                  </a:lnTo>
                  <a:lnTo>
                    <a:pt x="0" y="8013700"/>
                  </a:lnTo>
                  <a:lnTo>
                    <a:pt x="0" y="0"/>
                  </a:lnTo>
                  <a:close/>
                </a:path>
              </a:pathLst>
            </a:custGeom>
            <a:blipFill>
              <a:blip r:embed="rId5"/>
              <a:stretch>
                <a:fillRect l="0" t="0" r="0" b="0"/>
              </a:stretch>
            </a:blipFill>
          </p:spPr>
        </p:sp>
      </p:grpSp>
      <p:grpSp>
        <p:nvGrpSpPr>
          <p:cNvPr name="Group 7" id="7"/>
          <p:cNvGrpSpPr/>
          <p:nvPr/>
        </p:nvGrpSpPr>
        <p:grpSpPr>
          <a:xfrm rot="0">
            <a:off x="0" y="9820751"/>
            <a:ext cx="18287419" cy="466154"/>
            <a:chOff x="0" y="0"/>
            <a:chExt cx="18287416" cy="466154"/>
          </a:xfrm>
        </p:grpSpPr>
        <p:sp>
          <p:nvSpPr>
            <p:cNvPr name="Freeform 8" id="8"/>
            <p:cNvSpPr/>
            <p:nvPr/>
          </p:nvSpPr>
          <p:spPr>
            <a:xfrm flipH="false" flipV="false" rot="0">
              <a:off x="0" y="0"/>
              <a:ext cx="18287361" cy="466090"/>
            </a:xfrm>
            <a:custGeom>
              <a:avLst/>
              <a:gdLst/>
              <a:ahLst/>
              <a:cxnLst/>
              <a:rect r="r" b="b" t="t" l="l"/>
              <a:pathLst>
                <a:path h="466090" w="18287361">
                  <a:moveTo>
                    <a:pt x="0" y="0"/>
                  </a:moveTo>
                  <a:lnTo>
                    <a:pt x="0" y="466090"/>
                  </a:lnTo>
                  <a:lnTo>
                    <a:pt x="18287361" y="466090"/>
                  </a:lnTo>
                  <a:lnTo>
                    <a:pt x="18287361" y="0"/>
                  </a:lnTo>
                  <a:close/>
                </a:path>
              </a:pathLst>
            </a:custGeom>
            <a:solidFill>
              <a:srgbClr val="CB6CE6">
                <a:alpha val="24706"/>
              </a:srgbClr>
            </a:solidFill>
          </p:spPr>
        </p:sp>
      </p:grpSp>
      <p:sp>
        <p:nvSpPr>
          <p:cNvPr name="Freeform 9" id="9"/>
          <p:cNvSpPr/>
          <p:nvPr/>
        </p:nvSpPr>
        <p:spPr>
          <a:xfrm flipH="false" flipV="false" rot="0">
            <a:off x="274330" y="1555309"/>
            <a:ext cx="17739341" cy="2540232"/>
          </a:xfrm>
          <a:custGeom>
            <a:avLst/>
            <a:gdLst/>
            <a:ahLst/>
            <a:cxnLst/>
            <a:rect r="r" b="b" t="t" l="l"/>
            <a:pathLst>
              <a:path h="2540232" w="17739341">
                <a:moveTo>
                  <a:pt x="0" y="0"/>
                </a:moveTo>
                <a:lnTo>
                  <a:pt x="17739340" y="0"/>
                </a:lnTo>
                <a:lnTo>
                  <a:pt x="17739340" y="2540231"/>
                </a:lnTo>
                <a:lnTo>
                  <a:pt x="0" y="2540231"/>
                </a:lnTo>
                <a:lnTo>
                  <a:pt x="0" y="0"/>
                </a:lnTo>
                <a:close/>
              </a:path>
            </a:pathLst>
          </a:custGeom>
          <a:blipFill>
            <a:blip r:embed="rId6">
              <a:alphaModFix amt="25000"/>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14021305" y="8602142"/>
            <a:ext cx="3238500" cy="1684858"/>
            <a:chOff x="0" y="0"/>
            <a:chExt cx="4318000" cy="2246478"/>
          </a:xfrm>
        </p:grpSpPr>
        <p:sp>
          <p:nvSpPr>
            <p:cNvPr name="Freeform 11" id="11"/>
            <p:cNvSpPr/>
            <p:nvPr/>
          </p:nvSpPr>
          <p:spPr>
            <a:xfrm flipH="false" flipV="false" rot="0">
              <a:off x="0" y="0"/>
              <a:ext cx="4318000" cy="2246503"/>
            </a:xfrm>
            <a:custGeom>
              <a:avLst/>
              <a:gdLst/>
              <a:ahLst/>
              <a:cxnLst/>
              <a:rect r="r" b="b" t="t" l="l"/>
              <a:pathLst>
                <a:path h="2246503" w="4318000">
                  <a:moveTo>
                    <a:pt x="0" y="0"/>
                  </a:moveTo>
                  <a:lnTo>
                    <a:pt x="4318000" y="0"/>
                  </a:lnTo>
                  <a:lnTo>
                    <a:pt x="4318000" y="2246503"/>
                  </a:lnTo>
                  <a:lnTo>
                    <a:pt x="0" y="2246503"/>
                  </a:lnTo>
                  <a:lnTo>
                    <a:pt x="0" y="0"/>
                  </a:lnTo>
                  <a:close/>
                </a:path>
              </a:pathLst>
            </a:custGeom>
            <a:blipFill>
              <a:blip r:embed="rId8">
                <a:alphaModFix amt="25000"/>
              </a:blip>
              <a:stretch>
                <a:fillRect l="0" t="0" r="0" b="-92775"/>
              </a:stretch>
            </a:blipFill>
          </p:spPr>
        </p:sp>
      </p:grpSp>
      <p:grpSp>
        <p:nvGrpSpPr>
          <p:cNvPr name="Group 12" id="12"/>
          <p:cNvGrpSpPr/>
          <p:nvPr/>
        </p:nvGrpSpPr>
        <p:grpSpPr>
          <a:xfrm rot="0">
            <a:off x="4066184" y="4911357"/>
            <a:ext cx="476250" cy="438150"/>
            <a:chOff x="0" y="0"/>
            <a:chExt cx="635000" cy="584200"/>
          </a:xfrm>
        </p:grpSpPr>
        <p:sp>
          <p:nvSpPr>
            <p:cNvPr name="Freeform 13" id="13"/>
            <p:cNvSpPr/>
            <p:nvPr/>
          </p:nvSpPr>
          <p:spPr>
            <a:xfrm flipH="false" flipV="false" rot="0">
              <a:off x="0" y="0"/>
              <a:ext cx="635000" cy="584200"/>
            </a:xfrm>
            <a:custGeom>
              <a:avLst/>
              <a:gdLst/>
              <a:ahLst/>
              <a:cxnLst/>
              <a:rect r="r" b="b" t="t" l="l"/>
              <a:pathLst>
                <a:path h="584200" w="635000">
                  <a:moveTo>
                    <a:pt x="0" y="0"/>
                  </a:moveTo>
                  <a:lnTo>
                    <a:pt x="635000" y="0"/>
                  </a:lnTo>
                  <a:lnTo>
                    <a:pt x="635000" y="584200"/>
                  </a:lnTo>
                  <a:lnTo>
                    <a:pt x="0" y="584200"/>
                  </a:lnTo>
                  <a:lnTo>
                    <a:pt x="0" y="0"/>
                  </a:lnTo>
                  <a:close/>
                </a:path>
              </a:pathLst>
            </a:custGeom>
            <a:blipFill>
              <a:blip r:embed="rId9"/>
              <a:stretch>
                <a:fillRect l="0" t="0" r="0" b="0"/>
              </a:stretch>
            </a:blipFill>
          </p:spPr>
        </p:sp>
      </p:grpSp>
      <p:grpSp>
        <p:nvGrpSpPr>
          <p:cNvPr name="Group 14" id="14"/>
          <p:cNvGrpSpPr/>
          <p:nvPr/>
        </p:nvGrpSpPr>
        <p:grpSpPr>
          <a:xfrm rot="0">
            <a:off x="4066184" y="6221273"/>
            <a:ext cx="476250" cy="476250"/>
            <a:chOff x="0" y="0"/>
            <a:chExt cx="635000" cy="635000"/>
          </a:xfrm>
        </p:grpSpPr>
        <p:sp>
          <p:nvSpPr>
            <p:cNvPr name="Freeform 15" id="15"/>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lnTo>
                    <a:pt x="0" y="0"/>
                  </a:lnTo>
                  <a:close/>
                </a:path>
              </a:pathLst>
            </a:custGeom>
            <a:blipFill>
              <a:blip r:embed="rId10"/>
              <a:stretch>
                <a:fillRect l="0" t="0" r="0" b="0"/>
              </a:stretch>
            </a:blipFill>
          </p:spPr>
        </p:sp>
      </p:grpSp>
      <p:grpSp>
        <p:nvGrpSpPr>
          <p:cNvPr name="Group 16" id="16"/>
          <p:cNvGrpSpPr/>
          <p:nvPr/>
        </p:nvGrpSpPr>
        <p:grpSpPr>
          <a:xfrm rot="0">
            <a:off x="4066184" y="7571442"/>
            <a:ext cx="476250" cy="400050"/>
            <a:chOff x="0" y="0"/>
            <a:chExt cx="635000" cy="533400"/>
          </a:xfrm>
        </p:grpSpPr>
        <p:sp>
          <p:nvSpPr>
            <p:cNvPr name="Freeform 17" id="17"/>
            <p:cNvSpPr/>
            <p:nvPr/>
          </p:nvSpPr>
          <p:spPr>
            <a:xfrm flipH="false" flipV="false" rot="0">
              <a:off x="0" y="0"/>
              <a:ext cx="635000" cy="533400"/>
            </a:xfrm>
            <a:custGeom>
              <a:avLst/>
              <a:gdLst/>
              <a:ahLst/>
              <a:cxnLst/>
              <a:rect r="r" b="b" t="t" l="l"/>
              <a:pathLst>
                <a:path h="533400" w="635000">
                  <a:moveTo>
                    <a:pt x="0" y="0"/>
                  </a:moveTo>
                  <a:lnTo>
                    <a:pt x="635000" y="0"/>
                  </a:lnTo>
                  <a:lnTo>
                    <a:pt x="635000" y="533400"/>
                  </a:lnTo>
                  <a:lnTo>
                    <a:pt x="0" y="533400"/>
                  </a:lnTo>
                  <a:lnTo>
                    <a:pt x="0" y="0"/>
                  </a:lnTo>
                  <a:close/>
                </a:path>
              </a:pathLst>
            </a:custGeom>
            <a:blipFill>
              <a:blip r:embed="rId11"/>
              <a:stretch>
                <a:fillRect l="0" t="0" r="0" b="0"/>
              </a:stretch>
            </a:blipFill>
          </p:spPr>
        </p:sp>
      </p:grpSp>
      <p:grpSp>
        <p:nvGrpSpPr>
          <p:cNvPr name="Group 18" id="18"/>
          <p:cNvGrpSpPr/>
          <p:nvPr/>
        </p:nvGrpSpPr>
        <p:grpSpPr>
          <a:xfrm rot="0">
            <a:off x="4066184" y="8841696"/>
            <a:ext cx="476250" cy="400050"/>
            <a:chOff x="0" y="0"/>
            <a:chExt cx="635000" cy="533400"/>
          </a:xfrm>
        </p:grpSpPr>
        <p:sp>
          <p:nvSpPr>
            <p:cNvPr name="Freeform 19" id="19"/>
            <p:cNvSpPr/>
            <p:nvPr/>
          </p:nvSpPr>
          <p:spPr>
            <a:xfrm flipH="false" flipV="false" rot="0">
              <a:off x="0" y="0"/>
              <a:ext cx="635000" cy="533400"/>
            </a:xfrm>
            <a:custGeom>
              <a:avLst/>
              <a:gdLst/>
              <a:ahLst/>
              <a:cxnLst/>
              <a:rect r="r" b="b" t="t" l="l"/>
              <a:pathLst>
                <a:path h="533400" w="635000">
                  <a:moveTo>
                    <a:pt x="0" y="0"/>
                  </a:moveTo>
                  <a:lnTo>
                    <a:pt x="635000" y="0"/>
                  </a:lnTo>
                  <a:lnTo>
                    <a:pt x="635000" y="533400"/>
                  </a:lnTo>
                  <a:lnTo>
                    <a:pt x="0" y="533400"/>
                  </a:lnTo>
                  <a:lnTo>
                    <a:pt x="0" y="0"/>
                  </a:lnTo>
                  <a:close/>
                </a:path>
              </a:pathLst>
            </a:custGeom>
            <a:blipFill>
              <a:blip r:embed="rId12"/>
              <a:stretch>
                <a:fillRect l="0" t="0" r="0" b="0"/>
              </a:stretch>
            </a:blipFill>
          </p:spPr>
        </p:sp>
      </p:grpSp>
      <p:grpSp>
        <p:nvGrpSpPr>
          <p:cNvPr name="Group 20" id="20"/>
          <p:cNvGrpSpPr/>
          <p:nvPr/>
        </p:nvGrpSpPr>
        <p:grpSpPr>
          <a:xfrm rot="0">
            <a:off x="12979775" y="4869380"/>
            <a:ext cx="476250" cy="476250"/>
            <a:chOff x="0" y="0"/>
            <a:chExt cx="635000" cy="635000"/>
          </a:xfrm>
        </p:grpSpPr>
        <p:sp>
          <p:nvSpPr>
            <p:cNvPr name="Freeform 21" id="21"/>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lnTo>
                    <a:pt x="0" y="0"/>
                  </a:lnTo>
                  <a:close/>
                </a:path>
              </a:pathLst>
            </a:custGeom>
            <a:blipFill>
              <a:blip r:embed="rId13"/>
              <a:stretch>
                <a:fillRect l="0" t="0" r="0" b="0"/>
              </a:stretch>
            </a:blipFill>
          </p:spPr>
        </p:sp>
      </p:grpSp>
      <p:grpSp>
        <p:nvGrpSpPr>
          <p:cNvPr name="Group 22" id="22"/>
          <p:cNvGrpSpPr/>
          <p:nvPr/>
        </p:nvGrpSpPr>
        <p:grpSpPr>
          <a:xfrm rot="0">
            <a:off x="12979775" y="6196889"/>
            <a:ext cx="476250" cy="476250"/>
            <a:chOff x="0" y="0"/>
            <a:chExt cx="635000" cy="635000"/>
          </a:xfrm>
        </p:grpSpPr>
        <p:sp>
          <p:nvSpPr>
            <p:cNvPr name="Freeform 23" id="23"/>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lnTo>
                    <a:pt x="0" y="0"/>
                  </a:lnTo>
                  <a:close/>
                </a:path>
              </a:pathLst>
            </a:custGeom>
            <a:blipFill>
              <a:blip r:embed="rId14"/>
              <a:stretch>
                <a:fillRect l="0" t="0" r="0" b="0"/>
              </a:stretch>
            </a:blipFill>
          </p:spPr>
        </p:sp>
      </p:grpSp>
      <p:grpSp>
        <p:nvGrpSpPr>
          <p:cNvPr name="Group 24" id="24"/>
          <p:cNvGrpSpPr/>
          <p:nvPr/>
        </p:nvGrpSpPr>
        <p:grpSpPr>
          <a:xfrm rot="0">
            <a:off x="12979775" y="8811644"/>
            <a:ext cx="476250" cy="476250"/>
            <a:chOff x="0" y="0"/>
            <a:chExt cx="635000" cy="635000"/>
          </a:xfrm>
        </p:grpSpPr>
        <p:sp>
          <p:nvSpPr>
            <p:cNvPr name="Freeform 25" id="25"/>
            <p:cNvSpPr/>
            <p:nvPr/>
          </p:nvSpPr>
          <p:spPr>
            <a:xfrm flipH="false" flipV="false" rot="0">
              <a:off x="0" y="0"/>
              <a:ext cx="635000" cy="635000"/>
            </a:xfrm>
            <a:custGeom>
              <a:avLst/>
              <a:gdLst/>
              <a:ahLst/>
              <a:cxnLst/>
              <a:rect r="r" b="b" t="t" l="l"/>
              <a:pathLst>
                <a:path h="635000" w="635000">
                  <a:moveTo>
                    <a:pt x="0" y="0"/>
                  </a:moveTo>
                  <a:lnTo>
                    <a:pt x="635000" y="0"/>
                  </a:lnTo>
                  <a:lnTo>
                    <a:pt x="635000" y="635000"/>
                  </a:lnTo>
                  <a:lnTo>
                    <a:pt x="0" y="635000"/>
                  </a:lnTo>
                  <a:lnTo>
                    <a:pt x="0" y="0"/>
                  </a:lnTo>
                  <a:close/>
                </a:path>
              </a:pathLst>
            </a:custGeom>
            <a:blipFill>
              <a:blip r:embed="rId15"/>
              <a:stretch>
                <a:fillRect l="0" t="0" r="0" b="0"/>
              </a:stretch>
            </a:blipFill>
          </p:spPr>
        </p:sp>
      </p:grpSp>
      <p:grpSp>
        <p:nvGrpSpPr>
          <p:cNvPr name="Group 26" id="26"/>
          <p:cNvGrpSpPr/>
          <p:nvPr/>
        </p:nvGrpSpPr>
        <p:grpSpPr>
          <a:xfrm rot="0">
            <a:off x="12979775" y="7524398"/>
            <a:ext cx="476250" cy="438150"/>
            <a:chOff x="0" y="0"/>
            <a:chExt cx="635000" cy="584200"/>
          </a:xfrm>
        </p:grpSpPr>
        <p:sp>
          <p:nvSpPr>
            <p:cNvPr name="Freeform 27" id="27"/>
            <p:cNvSpPr/>
            <p:nvPr/>
          </p:nvSpPr>
          <p:spPr>
            <a:xfrm flipH="false" flipV="false" rot="0">
              <a:off x="0" y="0"/>
              <a:ext cx="635000" cy="584200"/>
            </a:xfrm>
            <a:custGeom>
              <a:avLst/>
              <a:gdLst/>
              <a:ahLst/>
              <a:cxnLst/>
              <a:rect r="r" b="b" t="t" l="l"/>
              <a:pathLst>
                <a:path h="584200" w="635000">
                  <a:moveTo>
                    <a:pt x="0" y="0"/>
                  </a:moveTo>
                  <a:lnTo>
                    <a:pt x="635000" y="0"/>
                  </a:lnTo>
                  <a:lnTo>
                    <a:pt x="635000" y="584200"/>
                  </a:lnTo>
                  <a:lnTo>
                    <a:pt x="0" y="584200"/>
                  </a:lnTo>
                  <a:lnTo>
                    <a:pt x="0" y="0"/>
                  </a:lnTo>
                  <a:close/>
                </a:path>
              </a:pathLst>
            </a:custGeom>
            <a:blipFill>
              <a:blip r:embed="rId16"/>
              <a:stretch>
                <a:fillRect l="0" t="0" r="0" b="0"/>
              </a:stretch>
            </a:blipFill>
          </p:spPr>
        </p:sp>
      </p:grpSp>
      <p:sp>
        <p:nvSpPr>
          <p:cNvPr name="Freeform 28" id="28"/>
          <p:cNvSpPr/>
          <p:nvPr/>
        </p:nvSpPr>
        <p:spPr>
          <a:xfrm flipH="false" flipV="false" rot="0">
            <a:off x="-63503" y="-63503"/>
            <a:ext cx="2450363" cy="1682306"/>
          </a:xfrm>
          <a:custGeom>
            <a:avLst/>
            <a:gdLst/>
            <a:ahLst/>
            <a:cxnLst/>
            <a:rect r="r" b="b" t="t" l="l"/>
            <a:pathLst>
              <a:path h="1682306" w="2450363">
                <a:moveTo>
                  <a:pt x="0" y="0"/>
                </a:moveTo>
                <a:lnTo>
                  <a:pt x="2450363" y="0"/>
                </a:lnTo>
                <a:lnTo>
                  <a:pt x="2450363" y="1682305"/>
                </a:lnTo>
                <a:lnTo>
                  <a:pt x="0" y="168230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29" id="29"/>
          <p:cNvGrpSpPr/>
          <p:nvPr/>
        </p:nvGrpSpPr>
        <p:grpSpPr>
          <a:xfrm rot="0">
            <a:off x="713108" y="2401567"/>
            <a:ext cx="95250" cy="95250"/>
            <a:chOff x="0" y="0"/>
            <a:chExt cx="95250" cy="95250"/>
          </a:xfrm>
        </p:grpSpPr>
        <p:sp>
          <p:nvSpPr>
            <p:cNvPr name="Freeform 30" id="30"/>
            <p:cNvSpPr/>
            <p:nvPr/>
          </p:nvSpPr>
          <p:spPr>
            <a:xfrm flipH="false" flipV="false" rot="0">
              <a:off x="0" y="0"/>
              <a:ext cx="95377" cy="95377"/>
            </a:xfrm>
            <a:custGeom>
              <a:avLst/>
              <a:gdLst/>
              <a:ahLst/>
              <a:cxnLst/>
              <a:rect r="r" b="b" t="t" l="l"/>
              <a:pathLst>
                <a:path h="95377" w="95377">
                  <a:moveTo>
                    <a:pt x="95250" y="47625"/>
                  </a:moveTo>
                  <a:cubicBezTo>
                    <a:pt x="95250" y="53975"/>
                    <a:pt x="93980" y="60071"/>
                    <a:pt x="91567" y="65913"/>
                  </a:cubicBezTo>
                  <a:cubicBezTo>
                    <a:pt x="89154" y="71755"/>
                    <a:pt x="85725" y="76835"/>
                    <a:pt x="81280" y="81407"/>
                  </a:cubicBezTo>
                  <a:cubicBezTo>
                    <a:pt x="76835" y="85979"/>
                    <a:pt x="71628" y="89281"/>
                    <a:pt x="65786" y="91694"/>
                  </a:cubicBezTo>
                  <a:cubicBezTo>
                    <a:pt x="59944" y="94107"/>
                    <a:pt x="53848" y="95377"/>
                    <a:pt x="47498" y="95377"/>
                  </a:cubicBezTo>
                  <a:cubicBezTo>
                    <a:pt x="41148" y="95377"/>
                    <a:pt x="35052" y="94107"/>
                    <a:pt x="29210" y="91694"/>
                  </a:cubicBezTo>
                  <a:cubicBezTo>
                    <a:pt x="23368" y="89281"/>
                    <a:pt x="18288" y="85852"/>
                    <a:pt x="13716" y="81407"/>
                  </a:cubicBezTo>
                  <a:cubicBezTo>
                    <a:pt x="9144" y="76962"/>
                    <a:pt x="6096" y="71628"/>
                    <a:pt x="3683" y="65913"/>
                  </a:cubicBezTo>
                  <a:cubicBezTo>
                    <a:pt x="1270" y="60198"/>
                    <a:pt x="0" y="53975"/>
                    <a:pt x="0" y="47625"/>
                  </a:cubicBezTo>
                  <a:cubicBezTo>
                    <a:pt x="0" y="41275"/>
                    <a:pt x="1270" y="35179"/>
                    <a:pt x="3683" y="29337"/>
                  </a:cubicBezTo>
                  <a:cubicBezTo>
                    <a:pt x="6096" y="23495"/>
                    <a:pt x="9525" y="18415"/>
                    <a:pt x="13970" y="13970"/>
                  </a:cubicBezTo>
                  <a:cubicBezTo>
                    <a:pt x="18415" y="9525"/>
                    <a:pt x="23622" y="6096"/>
                    <a:pt x="29337" y="3683"/>
                  </a:cubicBezTo>
                  <a:cubicBezTo>
                    <a:pt x="35052" y="1270"/>
                    <a:pt x="41275" y="0"/>
                    <a:pt x="47625" y="0"/>
                  </a:cubicBezTo>
                  <a:cubicBezTo>
                    <a:pt x="53975" y="0"/>
                    <a:pt x="60071" y="1270"/>
                    <a:pt x="65913" y="3683"/>
                  </a:cubicBezTo>
                  <a:cubicBezTo>
                    <a:pt x="71755" y="6096"/>
                    <a:pt x="76835" y="9525"/>
                    <a:pt x="81407" y="13970"/>
                  </a:cubicBezTo>
                  <a:cubicBezTo>
                    <a:pt x="85979" y="18415"/>
                    <a:pt x="89281" y="23622"/>
                    <a:pt x="91694" y="29464"/>
                  </a:cubicBezTo>
                  <a:cubicBezTo>
                    <a:pt x="94107" y="35306"/>
                    <a:pt x="95377" y="41402"/>
                    <a:pt x="95377" y="47752"/>
                  </a:cubicBezTo>
                  <a:close/>
                </a:path>
              </a:pathLst>
            </a:custGeom>
            <a:solidFill>
              <a:srgbClr val="004AAD"/>
            </a:solidFill>
          </p:spPr>
        </p:sp>
      </p:grpSp>
      <p:sp>
        <p:nvSpPr>
          <p:cNvPr name="TextBox 31" id="31"/>
          <p:cNvSpPr txBox="true"/>
          <p:nvPr/>
        </p:nvSpPr>
        <p:spPr>
          <a:xfrm rot="0">
            <a:off x="92688" y="326117"/>
            <a:ext cx="1659969" cy="548030"/>
          </a:xfrm>
          <a:prstGeom prst="rect">
            <a:avLst/>
          </a:prstGeom>
        </p:spPr>
        <p:txBody>
          <a:bodyPr anchor="t" rtlCol="false" tIns="0" lIns="0" bIns="0" rIns="0">
            <a:spAutoFit/>
          </a:bodyPr>
          <a:lstStyle/>
          <a:p>
            <a:pPr algn="l">
              <a:lnSpc>
                <a:spcPts val="3918"/>
              </a:lnSpc>
            </a:pPr>
            <a:r>
              <a:rPr lang="en-US" sz="2798">
                <a:solidFill>
                  <a:srgbClr val="000000"/>
                </a:solidFill>
                <a:latin typeface="Calibri (MS)"/>
                <a:ea typeface="Calibri (MS)"/>
                <a:cs typeface="Calibri (MS)"/>
                <a:sym typeface="Calibri (MS)"/>
              </a:rPr>
              <a:t>Ggryffind</a:t>
            </a:r>
            <a:r>
              <a:rPr lang="en-US" sz="2798">
                <a:solidFill>
                  <a:srgbClr val="000000"/>
                </a:solidFill>
                <a:latin typeface="Calibri (MS)"/>
                <a:ea typeface="Calibri (MS)"/>
                <a:cs typeface="Calibri (MS)"/>
                <a:sym typeface="Calibri (MS)"/>
              </a:rPr>
              <a:t>or</a:t>
            </a:r>
          </a:p>
        </p:txBody>
      </p:sp>
      <p:sp>
        <p:nvSpPr>
          <p:cNvPr name="TextBox 32" id="32"/>
          <p:cNvSpPr txBox="true"/>
          <p:nvPr/>
        </p:nvSpPr>
        <p:spPr>
          <a:xfrm rot="0">
            <a:off x="3099502" y="63551"/>
            <a:ext cx="12330589" cy="694954"/>
          </a:xfrm>
          <a:prstGeom prst="rect">
            <a:avLst/>
          </a:prstGeom>
        </p:spPr>
        <p:txBody>
          <a:bodyPr anchor="t" rtlCol="false" tIns="0" lIns="0" bIns="0" rIns="0">
            <a:spAutoFit/>
          </a:bodyPr>
          <a:lstStyle/>
          <a:p>
            <a:pPr algn="l">
              <a:lnSpc>
                <a:spcPts val="5528"/>
              </a:lnSpc>
            </a:pPr>
            <a:r>
              <a:rPr lang="en-US" b="true" sz="3948">
                <a:solidFill>
                  <a:srgbClr val="0F232E"/>
                </a:solidFill>
                <a:latin typeface="Times New Roman Bold"/>
                <a:ea typeface="Times New Roman Bold"/>
                <a:cs typeface="Times New Roman Bold"/>
                <a:sym typeface="Times New Roman Bold"/>
              </a:rPr>
              <a:t>RePlate: A Smart Surplus Food Redistribution Platform</a:t>
            </a:r>
          </a:p>
        </p:txBody>
      </p:sp>
      <p:sp>
        <p:nvSpPr>
          <p:cNvPr name="TextBox 33" id="33"/>
          <p:cNvSpPr txBox="true"/>
          <p:nvPr/>
        </p:nvSpPr>
        <p:spPr>
          <a:xfrm rot="0">
            <a:off x="6372511" y="9853670"/>
            <a:ext cx="4640447" cy="312144"/>
          </a:xfrm>
          <a:prstGeom prst="rect">
            <a:avLst/>
          </a:prstGeom>
        </p:spPr>
        <p:txBody>
          <a:bodyPr anchor="t" rtlCol="false" tIns="0" lIns="0" bIns="0" rIns="0">
            <a:spAutoFit/>
          </a:bodyPr>
          <a:lstStyle/>
          <a:p>
            <a:pPr algn="l">
              <a:lnSpc>
                <a:spcPts val="2520"/>
              </a:lnSpc>
            </a:pPr>
            <a:r>
              <a:rPr lang="en-US" b="true" sz="1800">
                <a:solidFill>
                  <a:srgbClr val="000000"/>
                </a:solidFill>
                <a:latin typeface="Canva Sans Bold"/>
                <a:ea typeface="Canva Sans Bold"/>
                <a:cs typeface="Canva Sans Bold"/>
                <a:sym typeface="Canva Sans Bold"/>
              </a:rPr>
              <a:t>SpectraX ‘26 Idea Submission - Template</a:t>
            </a:r>
          </a:p>
        </p:txBody>
      </p:sp>
      <p:sp>
        <p:nvSpPr>
          <p:cNvPr name="TextBox 34" id="34"/>
          <p:cNvSpPr txBox="true"/>
          <p:nvPr/>
        </p:nvSpPr>
        <p:spPr>
          <a:xfrm rot="0">
            <a:off x="18086194" y="9752886"/>
            <a:ext cx="134293" cy="385229"/>
          </a:xfrm>
          <a:prstGeom prst="rect">
            <a:avLst/>
          </a:prstGeom>
        </p:spPr>
        <p:txBody>
          <a:bodyPr anchor="t" rtlCol="false" tIns="0" lIns="0" bIns="0" rIns="0">
            <a:spAutoFit/>
          </a:bodyPr>
          <a:lstStyle/>
          <a:p>
            <a:pPr algn="l">
              <a:lnSpc>
                <a:spcPts val="2937"/>
              </a:lnSpc>
            </a:pPr>
            <a:r>
              <a:rPr lang="en-US" sz="2098">
                <a:solidFill>
                  <a:srgbClr val="000000"/>
                </a:solidFill>
                <a:latin typeface="Anton"/>
                <a:ea typeface="Anton"/>
                <a:cs typeface="Anton"/>
                <a:sym typeface="Anton"/>
              </a:rPr>
              <a:t>2</a:t>
            </a:r>
          </a:p>
        </p:txBody>
      </p:sp>
      <p:sp>
        <p:nvSpPr>
          <p:cNvPr name="TextBox 35" id="35"/>
          <p:cNvSpPr txBox="true"/>
          <p:nvPr/>
        </p:nvSpPr>
        <p:spPr>
          <a:xfrm rot="0">
            <a:off x="494033" y="1596857"/>
            <a:ext cx="1182081" cy="674761"/>
          </a:xfrm>
          <a:prstGeom prst="rect">
            <a:avLst/>
          </a:prstGeom>
        </p:spPr>
        <p:txBody>
          <a:bodyPr anchor="t" rtlCol="false" tIns="0" lIns="0" bIns="0" rIns="0">
            <a:spAutoFit/>
          </a:bodyPr>
          <a:lstStyle/>
          <a:p>
            <a:pPr algn="l">
              <a:lnSpc>
                <a:spcPts val="5319"/>
              </a:lnSpc>
            </a:pPr>
            <a:r>
              <a:rPr lang="en-US" b="true" sz="3799">
                <a:solidFill>
                  <a:srgbClr val="A90707"/>
                </a:solidFill>
                <a:latin typeface="Canva Sans Bold"/>
                <a:ea typeface="Canva Sans Bold"/>
                <a:cs typeface="Canva Sans Bold"/>
                <a:sym typeface="Canva Sans Bold"/>
              </a:rPr>
              <a:t>Idea:</a:t>
            </a:r>
          </a:p>
        </p:txBody>
      </p:sp>
      <p:sp>
        <p:nvSpPr>
          <p:cNvPr name="TextBox 36" id="36"/>
          <p:cNvSpPr txBox="true"/>
          <p:nvPr/>
        </p:nvSpPr>
        <p:spPr>
          <a:xfrm rot="0">
            <a:off x="968950" y="2255015"/>
            <a:ext cx="16290855" cy="1630846"/>
          </a:xfrm>
          <a:prstGeom prst="rect">
            <a:avLst/>
          </a:prstGeom>
        </p:spPr>
        <p:txBody>
          <a:bodyPr anchor="t" rtlCol="false" tIns="0" lIns="0" bIns="0" rIns="0">
            <a:spAutoFit/>
          </a:bodyPr>
          <a:lstStyle/>
          <a:p>
            <a:pPr algn="l">
              <a:lnSpc>
                <a:spcPts val="2639"/>
              </a:lnSpc>
            </a:pPr>
            <a:r>
              <a:rPr lang="en-US" b="true" sz="2212">
                <a:solidFill>
                  <a:srgbClr val="004AAD"/>
                </a:solidFill>
                <a:latin typeface="Canva Sans Bold"/>
                <a:ea typeface="Canva Sans Bold"/>
                <a:cs typeface="Canva Sans Bold"/>
                <a:sym typeface="Canva Sans Bold"/>
              </a:rPr>
              <a:t>RePlate is an AI-powered surplus food redistribution platform that connects restaurants, bakeries, and grocery stores with nearby consumers to sell surplus food at dynamic discounted prices before it expires. The system uses AI-driven recommendations, smart pricing, and QR-based verification to ensure efficient food redistribution. If food remains unsold, it is redirected to NGOs with optimized pickup routes, reducing food waste while generating measurable environmental impact.</a:t>
            </a:r>
          </a:p>
        </p:txBody>
      </p:sp>
      <p:sp>
        <p:nvSpPr>
          <p:cNvPr name="TextBox 37" id="37"/>
          <p:cNvSpPr txBox="true"/>
          <p:nvPr/>
        </p:nvSpPr>
        <p:spPr>
          <a:xfrm rot="0">
            <a:off x="5391274" y="5943460"/>
            <a:ext cx="3251854" cy="3491586"/>
          </a:xfrm>
          <a:prstGeom prst="rect">
            <a:avLst/>
          </a:prstGeom>
        </p:spPr>
        <p:txBody>
          <a:bodyPr anchor="t" rtlCol="false" tIns="0" lIns="0" bIns="0" rIns="0">
            <a:spAutoFit/>
          </a:bodyPr>
          <a:lstStyle/>
          <a:p>
            <a:pPr algn="l">
              <a:lnSpc>
                <a:spcPts val="1952"/>
              </a:lnSpc>
            </a:pPr>
            <a:r>
              <a:rPr lang="en-US" b="true" sz="1418">
                <a:solidFill>
                  <a:srgbClr val="000000"/>
                </a:solidFill>
                <a:latin typeface="Open Sans Bold"/>
                <a:ea typeface="Open Sans Bold"/>
                <a:cs typeface="Open Sans Bold"/>
                <a:sym typeface="Open Sans Bold"/>
              </a:rPr>
              <a:t>Dynamic Pricing Engine</a:t>
            </a:r>
          </a:p>
          <a:p>
            <a:pPr algn="l">
              <a:lnSpc>
                <a:spcPts val="1952"/>
              </a:lnSpc>
            </a:pPr>
            <a:r>
              <a:rPr lang="en-US" sz="1418">
                <a:solidFill>
                  <a:srgbClr val="000000"/>
                </a:solidFill>
                <a:latin typeface="Open Sans"/>
                <a:ea typeface="Open Sans"/>
                <a:cs typeface="Open Sans"/>
                <a:sym typeface="Open Sans"/>
              </a:rPr>
              <a:t>Automatically adjusts prices based on manufacturing date, shelf life, weather conditions, and demand.</a:t>
            </a:r>
          </a:p>
          <a:p>
            <a:pPr algn="l">
              <a:lnSpc>
                <a:spcPts val="1952"/>
              </a:lnSpc>
            </a:pPr>
          </a:p>
          <a:p>
            <a:pPr algn="l">
              <a:lnSpc>
                <a:spcPts val="1952"/>
              </a:lnSpc>
            </a:pPr>
          </a:p>
          <a:p>
            <a:pPr algn="l">
              <a:lnSpc>
                <a:spcPts val="1952"/>
              </a:lnSpc>
            </a:pPr>
            <a:r>
              <a:rPr lang="en-US" b="true" sz="1418">
                <a:solidFill>
                  <a:srgbClr val="000000"/>
                </a:solidFill>
                <a:latin typeface="Open Sans Bold"/>
                <a:ea typeface="Open Sans Bold"/>
                <a:cs typeface="Open Sans Bold"/>
                <a:sym typeface="Open Sans Bold"/>
              </a:rPr>
              <a:t>AI-P</a:t>
            </a:r>
            <a:r>
              <a:rPr lang="en-US" b="true" sz="1418">
                <a:solidFill>
                  <a:srgbClr val="000000"/>
                </a:solidFill>
                <a:latin typeface="Open Sans Bold"/>
                <a:ea typeface="Open Sans Bold"/>
                <a:cs typeface="Open Sans Bold"/>
                <a:sym typeface="Open Sans Bold"/>
              </a:rPr>
              <a:t>owered Food Recommendation</a:t>
            </a:r>
          </a:p>
          <a:p>
            <a:pPr algn="l">
              <a:lnSpc>
                <a:spcPts val="1562"/>
              </a:lnSpc>
            </a:pPr>
            <a:r>
              <a:rPr lang="en-US" sz="1333">
                <a:solidFill>
                  <a:srgbClr val="000000"/>
                </a:solidFill>
                <a:latin typeface="Open Sans"/>
                <a:ea typeface="Open Sans"/>
                <a:cs typeface="Open Sans"/>
                <a:sym typeface="Open Sans"/>
              </a:rPr>
              <a:t>Re</a:t>
            </a:r>
            <a:r>
              <a:rPr lang="en-US" sz="1333">
                <a:solidFill>
                  <a:srgbClr val="000000"/>
                </a:solidFill>
                <a:latin typeface="Open Sans"/>
                <a:ea typeface="Open Sans"/>
                <a:cs typeface="Open Sans"/>
                <a:sym typeface="Open Sans"/>
              </a:rPr>
              <a:t>commends relevant surplus food to users based on location, preferences, and past activity.</a:t>
            </a:r>
          </a:p>
          <a:p>
            <a:pPr algn="l">
              <a:lnSpc>
                <a:spcPts val="1562"/>
              </a:lnSpc>
            </a:pPr>
          </a:p>
          <a:p>
            <a:pPr algn="l">
              <a:lnSpc>
                <a:spcPts val="1562"/>
              </a:lnSpc>
            </a:pPr>
          </a:p>
          <a:p>
            <a:pPr algn="l">
              <a:lnSpc>
                <a:spcPts val="1562"/>
              </a:lnSpc>
            </a:pPr>
          </a:p>
          <a:p>
            <a:pPr algn="l">
              <a:lnSpc>
                <a:spcPts val="1952"/>
              </a:lnSpc>
            </a:pPr>
            <a:r>
              <a:rPr lang="en-US" b="true" sz="1418">
                <a:solidFill>
                  <a:srgbClr val="000000"/>
                </a:solidFill>
                <a:latin typeface="Open Sans Bold"/>
                <a:ea typeface="Open Sans Bold"/>
                <a:cs typeface="Open Sans Bold"/>
                <a:sym typeface="Open Sans Bold"/>
              </a:rPr>
              <a:t>G</a:t>
            </a:r>
            <a:r>
              <a:rPr lang="en-US" b="true" sz="1418">
                <a:solidFill>
                  <a:srgbClr val="000000"/>
                </a:solidFill>
                <a:latin typeface="Open Sans Bold"/>
                <a:ea typeface="Open Sans Bold"/>
                <a:cs typeface="Open Sans Bold"/>
                <a:sym typeface="Open Sans Bold"/>
              </a:rPr>
              <a:t>eo-Based Food Discovery</a:t>
            </a:r>
          </a:p>
          <a:p>
            <a:pPr algn="l">
              <a:lnSpc>
                <a:spcPts val="1478"/>
              </a:lnSpc>
            </a:pPr>
            <a:r>
              <a:rPr lang="en-US" sz="1261">
                <a:solidFill>
                  <a:srgbClr val="000000"/>
                </a:solidFill>
                <a:latin typeface="Open Sans"/>
                <a:ea typeface="Open Sans"/>
                <a:cs typeface="Open Sans"/>
                <a:sym typeface="Open Sans"/>
              </a:rPr>
              <a:t>H</a:t>
            </a:r>
            <a:r>
              <a:rPr lang="en-US" sz="1261">
                <a:solidFill>
                  <a:srgbClr val="000000"/>
                </a:solidFill>
                <a:latin typeface="Open Sans"/>
                <a:ea typeface="Open Sans"/>
                <a:cs typeface="Open Sans"/>
                <a:sym typeface="Open Sans"/>
              </a:rPr>
              <a:t>elps users find discounted surplus food from nearby restaurants and stores</a:t>
            </a:r>
          </a:p>
        </p:txBody>
      </p:sp>
      <p:sp>
        <p:nvSpPr>
          <p:cNvPr name="TextBox 38" id="38"/>
          <p:cNvSpPr txBox="true"/>
          <p:nvPr/>
        </p:nvSpPr>
        <p:spPr>
          <a:xfrm rot="0">
            <a:off x="5391274" y="4393197"/>
            <a:ext cx="2978239" cy="1262048"/>
          </a:xfrm>
          <a:prstGeom prst="rect">
            <a:avLst/>
          </a:prstGeom>
        </p:spPr>
        <p:txBody>
          <a:bodyPr anchor="t" rtlCol="false" tIns="0" lIns="0" bIns="0" rIns="0">
            <a:spAutoFit/>
          </a:bodyPr>
          <a:lstStyle/>
          <a:p>
            <a:pPr algn="l">
              <a:lnSpc>
                <a:spcPts val="1986"/>
              </a:lnSpc>
            </a:pPr>
            <a:r>
              <a:rPr lang="en-US" b="true" sz="1418">
                <a:solidFill>
                  <a:srgbClr val="000000"/>
                </a:solidFill>
                <a:latin typeface="Open Sans Bold"/>
                <a:ea typeface="Open Sans Bold"/>
                <a:cs typeface="Open Sans Bold"/>
                <a:sym typeface="Open Sans Bold"/>
              </a:rPr>
              <a:t>Smart Surplus Food Listing Engine</a:t>
            </a:r>
          </a:p>
          <a:p>
            <a:pPr algn="l">
              <a:lnSpc>
                <a:spcPts val="1574"/>
              </a:lnSpc>
            </a:pPr>
            <a:r>
              <a:rPr lang="en-US" sz="1361">
                <a:solidFill>
                  <a:srgbClr val="000000"/>
                </a:solidFill>
                <a:latin typeface="Open Sans"/>
                <a:ea typeface="Open Sans"/>
                <a:cs typeface="Open Sans"/>
                <a:sym typeface="Open Sans"/>
              </a:rPr>
              <a:t>EnBusinesses can list surplus food with details like manufacturing time, expiry window, and price for timely redistribution.</a:t>
            </a:r>
          </a:p>
        </p:txBody>
      </p:sp>
      <p:sp>
        <p:nvSpPr>
          <p:cNvPr name="TextBox 39" id="39"/>
          <p:cNvSpPr txBox="true"/>
          <p:nvPr/>
        </p:nvSpPr>
        <p:spPr>
          <a:xfrm rot="0">
            <a:off x="9144591" y="4555941"/>
            <a:ext cx="3061992" cy="1335412"/>
          </a:xfrm>
          <a:prstGeom prst="rect">
            <a:avLst/>
          </a:prstGeom>
        </p:spPr>
        <p:txBody>
          <a:bodyPr anchor="t" rtlCol="false" tIns="0" lIns="0" bIns="0" rIns="0">
            <a:spAutoFit/>
          </a:bodyPr>
          <a:lstStyle/>
          <a:p>
            <a:pPr algn="l">
              <a:lnSpc>
                <a:spcPts val="1986"/>
              </a:lnSpc>
            </a:pPr>
            <a:r>
              <a:rPr lang="en-US" b="true" sz="1418">
                <a:solidFill>
                  <a:srgbClr val="000000"/>
                </a:solidFill>
                <a:latin typeface="Open Sans Bold"/>
                <a:ea typeface="Open Sans Bold"/>
                <a:cs typeface="Open Sans Bold"/>
                <a:sym typeface="Open Sans Bold"/>
              </a:rPr>
              <a:t>QR-B</a:t>
            </a:r>
            <a:r>
              <a:rPr lang="en-US" b="true" sz="1418">
                <a:solidFill>
                  <a:srgbClr val="000000"/>
                </a:solidFill>
                <a:latin typeface="Open Sans Bold"/>
                <a:ea typeface="Open Sans Bold"/>
                <a:cs typeface="Open Sans Bold"/>
                <a:sym typeface="Open Sans Bold"/>
              </a:rPr>
              <a:t>ased Pickup Verification</a:t>
            </a:r>
          </a:p>
          <a:p>
            <a:pPr algn="l">
              <a:lnSpc>
                <a:spcPts val="1499"/>
              </a:lnSpc>
            </a:pPr>
            <a:r>
              <a:rPr lang="en-US" sz="1261">
                <a:solidFill>
                  <a:srgbClr val="000000"/>
                </a:solidFill>
                <a:latin typeface="Open Sans"/>
                <a:ea typeface="Open Sans"/>
                <a:cs typeface="Open Sans"/>
                <a:sym typeface="Open Sans"/>
              </a:rPr>
              <a:t>Calculates avoided emissions for every completed order using standardized food- to-CO₂ conversion metrics, providing measurable sustainability insights.</a:t>
            </a:r>
          </a:p>
          <a:p>
            <a:pPr algn="l">
              <a:lnSpc>
                <a:spcPts val="1499"/>
              </a:lnSpc>
            </a:pPr>
          </a:p>
        </p:txBody>
      </p:sp>
      <p:sp>
        <p:nvSpPr>
          <p:cNvPr name="TextBox 40" id="40"/>
          <p:cNvSpPr txBox="true"/>
          <p:nvPr/>
        </p:nvSpPr>
        <p:spPr>
          <a:xfrm rot="0">
            <a:off x="9144591" y="7176878"/>
            <a:ext cx="1901785" cy="230662"/>
          </a:xfrm>
          <a:prstGeom prst="rect">
            <a:avLst/>
          </a:prstGeom>
        </p:spPr>
        <p:txBody>
          <a:bodyPr anchor="t" rtlCol="false" tIns="0" lIns="0" bIns="0" rIns="0">
            <a:spAutoFit/>
          </a:bodyPr>
          <a:lstStyle/>
          <a:p>
            <a:pPr algn="l">
              <a:lnSpc>
                <a:spcPts val="1986"/>
              </a:lnSpc>
            </a:pPr>
            <a:r>
              <a:rPr lang="en-US" b="true" sz="1418">
                <a:solidFill>
                  <a:srgbClr val="000000"/>
                </a:solidFill>
                <a:latin typeface="Open Sans Bold"/>
                <a:ea typeface="Open Sans Bold"/>
                <a:cs typeface="Open Sans Bold"/>
                <a:sym typeface="Open Sans Bold"/>
              </a:rPr>
              <a:t>Sm</a:t>
            </a:r>
            <a:r>
              <a:rPr lang="en-US" b="true" sz="1418">
                <a:solidFill>
                  <a:srgbClr val="000000"/>
                </a:solidFill>
                <a:latin typeface="Open Sans Bold"/>
                <a:ea typeface="Open Sans Bold"/>
                <a:cs typeface="Open Sans Bold"/>
                <a:sym typeface="Open Sans Bold"/>
              </a:rPr>
              <a:t>art NGO Matching</a:t>
            </a:r>
          </a:p>
        </p:txBody>
      </p:sp>
      <p:sp>
        <p:nvSpPr>
          <p:cNvPr name="TextBox 41" id="41"/>
          <p:cNvSpPr txBox="true"/>
          <p:nvPr/>
        </p:nvSpPr>
        <p:spPr>
          <a:xfrm rot="0">
            <a:off x="9121769" y="5924347"/>
            <a:ext cx="3107636" cy="957256"/>
          </a:xfrm>
          <a:prstGeom prst="rect">
            <a:avLst/>
          </a:prstGeom>
        </p:spPr>
        <p:txBody>
          <a:bodyPr anchor="t" rtlCol="false" tIns="0" lIns="0" bIns="0" rIns="0">
            <a:spAutoFit/>
          </a:bodyPr>
          <a:lstStyle/>
          <a:p>
            <a:pPr algn="l">
              <a:lnSpc>
                <a:spcPts val="1567"/>
              </a:lnSpc>
            </a:pPr>
            <a:r>
              <a:rPr lang="en-US" b="true" sz="1337">
                <a:solidFill>
                  <a:srgbClr val="000000"/>
                </a:solidFill>
                <a:latin typeface="Open Sans Bold"/>
                <a:ea typeface="Open Sans Bold"/>
                <a:cs typeface="Open Sans Bold"/>
                <a:sym typeface="Open Sans Bold"/>
              </a:rPr>
              <a:t>C</a:t>
            </a:r>
            <a:r>
              <a:rPr lang="en-US" b="true" sz="1337">
                <a:solidFill>
                  <a:srgbClr val="000000"/>
                </a:solidFill>
                <a:latin typeface="Open Sans Bold"/>
                <a:ea typeface="Open Sans Bold"/>
                <a:cs typeface="Open Sans Bold"/>
                <a:sym typeface="Open Sans Bold"/>
              </a:rPr>
              <a:t>arbon Impact Insights</a:t>
            </a:r>
          </a:p>
          <a:p>
            <a:pPr algn="l">
              <a:lnSpc>
                <a:spcPts val="1567"/>
              </a:lnSpc>
            </a:pPr>
            <a:r>
              <a:rPr lang="en-US" sz="1337">
                <a:solidFill>
                  <a:srgbClr val="000000"/>
                </a:solidFill>
                <a:latin typeface="Open Sans"/>
                <a:ea typeface="Open Sans"/>
                <a:cs typeface="Open Sans"/>
                <a:sym typeface="Open Sans"/>
              </a:rPr>
              <a:t>Shows th</a:t>
            </a:r>
            <a:r>
              <a:rPr lang="en-US" sz="1337">
                <a:solidFill>
                  <a:srgbClr val="000000"/>
                </a:solidFill>
                <a:latin typeface="Open Sans"/>
                <a:ea typeface="Open Sans"/>
                <a:cs typeface="Open Sans"/>
                <a:sym typeface="Open Sans"/>
              </a:rPr>
              <a:t>e environmental impact by estimating CO₂ emissions saved from rescued food.</a:t>
            </a:r>
          </a:p>
          <a:p>
            <a:pPr algn="l">
              <a:lnSpc>
                <a:spcPts val="1567"/>
              </a:lnSpc>
            </a:pPr>
          </a:p>
        </p:txBody>
      </p:sp>
      <p:sp>
        <p:nvSpPr>
          <p:cNvPr name="TextBox 42" id="42"/>
          <p:cNvSpPr txBox="true"/>
          <p:nvPr/>
        </p:nvSpPr>
        <p:spPr>
          <a:xfrm rot="0">
            <a:off x="11132506" y="6221578"/>
            <a:ext cx="45006" cy="305953"/>
          </a:xfrm>
          <a:prstGeom prst="rect">
            <a:avLst/>
          </a:prstGeom>
        </p:spPr>
        <p:txBody>
          <a:bodyPr anchor="t" rtlCol="false" tIns="0" lIns="0" bIns="0" rIns="0">
            <a:spAutoFit/>
          </a:bodyPr>
          <a:lstStyle/>
          <a:p>
            <a:pPr algn="l">
              <a:lnSpc>
                <a:spcPts val="2530"/>
              </a:lnSpc>
            </a:pPr>
            <a:r>
              <a:rPr lang="en-US" sz="1337">
                <a:solidFill>
                  <a:srgbClr val="000000"/>
                </a:solidFill>
                <a:latin typeface="Open Sans"/>
                <a:ea typeface="Open Sans"/>
                <a:cs typeface="Open Sans"/>
                <a:sym typeface="Open Sans"/>
              </a:rPr>
              <a:t> </a:t>
            </a:r>
          </a:p>
        </p:txBody>
      </p:sp>
      <p:sp>
        <p:nvSpPr>
          <p:cNvPr name="TextBox 43" id="43"/>
          <p:cNvSpPr txBox="true"/>
          <p:nvPr/>
        </p:nvSpPr>
        <p:spPr>
          <a:xfrm rot="0">
            <a:off x="8968271" y="8660818"/>
            <a:ext cx="3017725" cy="241567"/>
          </a:xfrm>
          <a:prstGeom prst="rect">
            <a:avLst/>
          </a:prstGeom>
        </p:spPr>
        <p:txBody>
          <a:bodyPr anchor="t" rtlCol="false" tIns="0" lIns="0" bIns="0" rIns="0">
            <a:spAutoFit/>
          </a:bodyPr>
          <a:lstStyle/>
          <a:p>
            <a:pPr algn="ctr">
              <a:lnSpc>
                <a:spcPts val="2051"/>
              </a:lnSpc>
            </a:pPr>
            <a:r>
              <a:rPr lang="en-US" b="true" sz="1419">
                <a:solidFill>
                  <a:srgbClr val="000000"/>
                </a:solidFill>
                <a:latin typeface="Open Sans Bold"/>
                <a:ea typeface="Open Sans Bold"/>
                <a:cs typeface="Open Sans Bold"/>
                <a:sym typeface="Open Sans Bold"/>
              </a:rPr>
              <a:t>NGO Picku</a:t>
            </a:r>
            <a:r>
              <a:rPr lang="en-US" b="true" sz="1419">
                <a:solidFill>
                  <a:srgbClr val="000000"/>
                </a:solidFill>
                <a:latin typeface="Open Sans Bold"/>
                <a:ea typeface="Open Sans Bold"/>
                <a:cs typeface="Open Sans Bold"/>
                <a:sym typeface="Open Sans Bold"/>
              </a:rPr>
              <a:t>p Route Optimization</a:t>
            </a:r>
          </a:p>
        </p:txBody>
      </p:sp>
      <p:sp>
        <p:nvSpPr>
          <p:cNvPr name="TextBox 44" id="44"/>
          <p:cNvSpPr txBox="true"/>
          <p:nvPr/>
        </p:nvSpPr>
        <p:spPr>
          <a:xfrm rot="0">
            <a:off x="8996846" y="8962144"/>
            <a:ext cx="3151703" cy="661025"/>
          </a:xfrm>
          <a:prstGeom prst="rect">
            <a:avLst/>
          </a:prstGeom>
        </p:spPr>
        <p:txBody>
          <a:bodyPr anchor="t" rtlCol="false" tIns="0" lIns="0" bIns="0" rIns="0">
            <a:spAutoFit/>
          </a:bodyPr>
          <a:lstStyle/>
          <a:p>
            <a:pPr algn="l">
              <a:lnSpc>
                <a:spcPts val="1725"/>
              </a:lnSpc>
            </a:pPr>
            <a:r>
              <a:rPr lang="en-US" sz="1275">
                <a:solidFill>
                  <a:srgbClr val="000000"/>
                </a:solidFill>
                <a:latin typeface="Open Sans"/>
                <a:ea typeface="Open Sans"/>
                <a:cs typeface="Open Sans"/>
                <a:sym typeface="Open Sans"/>
              </a:rPr>
              <a:t>S</a:t>
            </a:r>
            <a:r>
              <a:rPr lang="en-US" sz="1275">
                <a:solidFill>
                  <a:srgbClr val="000000"/>
                </a:solidFill>
                <a:latin typeface="Open Sans"/>
                <a:ea typeface="Open Sans"/>
                <a:cs typeface="Open Sans"/>
                <a:sym typeface="Open Sans"/>
              </a:rPr>
              <a:t>uggests efficient pickup routes for NGOs collecting food from multiple locations.</a:t>
            </a:r>
          </a:p>
          <a:p>
            <a:pPr algn="l">
              <a:lnSpc>
                <a:spcPts val="1725"/>
              </a:lnSpc>
            </a:pPr>
          </a:p>
        </p:txBody>
      </p:sp>
      <p:sp>
        <p:nvSpPr>
          <p:cNvPr name="TextBox 45" id="45"/>
          <p:cNvSpPr txBox="true"/>
          <p:nvPr/>
        </p:nvSpPr>
        <p:spPr>
          <a:xfrm rot="0">
            <a:off x="9156916" y="7464690"/>
            <a:ext cx="3072489" cy="911929"/>
          </a:xfrm>
          <a:prstGeom prst="rect">
            <a:avLst/>
          </a:prstGeom>
        </p:spPr>
        <p:txBody>
          <a:bodyPr anchor="t" rtlCol="false" tIns="0" lIns="0" bIns="0" rIns="0">
            <a:spAutoFit/>
          </a:bodyPr>
          <a:lstStyle/>
          <a:p>
            <a:pPr algn="l">
              <a:lnSpc>
                <a:spcPts val="1865"/>
              </a:lnSpc>
            </a:pPr>
            <a:r>
              <a:rPr lang="en-US" sz="1350">
                <a:solidFill>
                  <a:srgbClr val="000000"/>
                </a:solidFill>
                <a:latin typeface="Open Sans"/>
                <a:ea typeface="Open Sans"/>
                <a:cs typeface="Open Sans"/>
                <a:sym typeface="Open Sans"/>
              </a:rPr>
              <a:t>M</a:t>
            </a:r>
            <a:r>
              <a:rPr lang="en-US" sz="1350">
                <a:solidFill>
                  <a:srgbClr val="000000"/>
                </a:solidFill>
                <a:latin typeface="Open Sans"/>
                <a:ea typeface="Open Sans"/>
                <a:cs typeface="Open Sans"/>
                <a:sym typeface="Open Sans"/>
              </a:rPr>
              <a:t>atches unsold food with nearby NGOs to ensure it reaches people in need.</a:t>
            </a:r>
          </a:p>
          <a:p>
            <a:pPr algn="r">
              <a:lnSpc>
                <a:spcPts val="1865"/>
              </a:lnSpc>
            </a:pPr>
          </a:p>
        </p:txBody>
      </p:sp>
      <p:sp>
        <p:nvSpPr>
          <p:cNvPr name="TextBox 46" id="46"/>
          <p:cNvSpPr txBox="true"/>
          <p:nvPr/>
        </p:nvSpPr>
        <p:spPr>
          <a:xfrm rot="0">
            <a:off x="443408" y="4231424"/>
            <a:ext cx="1829124" cy="558946"/>
          </a:xfrm>
          <a:prstGeom prst="rect">
            <a:avLst/>
          </a:prstGeom>
        </p:spPr>
        <p:txBody>
          <a:bodyPr anchor="t" rtlCol="false" tIns="0" lIns="0" bIns="0" rIns="0">
            <a:spAutoFit/>
          </a:bodyPr>
          <a:lstStyle/>
          <a:p>
            <a:pPr algn="l">
              <a:lnSpc>
                <a:spcPts val="4459"/>
              </a:lnSpc>
            </a:pPr>
            <a:r>
              <a:rPr lang="en-US" b="true" sz="3185">
                <a:solidFill>
                  <a:srgbClr val="A90707"/>
                </a:solidFill>
                <a:latin typeface="Open Sans Bold"/>
                <a:ea typeface="Open Sans Bold"/>
                <a:cs typeface="Open Sans Bold"/>
                <a:sym typeface="Open Sans Bold"/>
              </a:rPr>
              <a:t>Solution:</a:t>
            </a:r>
          </a:p>
        </p:txBody>
      </p:sp>
      <p:sp>
        <p:nvSpPr>
          <p:cNvPr name="Freeform 47" id="47"/>
          <p:cNvSpPr/>
          <p:nvPr/>
        </p:nvSpPr>
        <p:spPr>
          <a:xfrm flipH="false" flipV="false" rot="0">
            <a:off x="17026542" y="-132355"/>
            <a:ext cx="1104745" cy="1510762"/>
          </a:xfrm>
          <a:custGeom>
            <a:avLst/>
            <a:gdLst/>
            <a:ahLst/>
            <a:cxnLst/>
            <a:rect r="r" b="b" t="t" l="l"/>
            <a:pathLst>
              <a:path h="1510762" w="1104745">
                <a:moveTo>
                  <a:pt x="0" y="0"/>
                </a:moveTo>
                <a:lnTo>
                  <a:pt x="1104745" y="0"/>
                </a:lnTo>
                <a:lnTo>
                  <a:pt x="1104745" y="1510762"/>
                </a:lnTo>
                <a:lnTo>
                  <a:pt x="0" y="1510762"/>
                </a:lnTo>
                <a:lnTo>
                  <a:pt x="0" y="0"/>
                </a:lnTo>
                <a:close/>
              </a:path>
            </a:pathLst>
          </a:custGeom>
          <a:blipFill>
            <a:blip r:embed="rId19"/>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2284424" y="1923334"/>
            <a:ext cx="801401" cy="902694"/>
          </a:xfrm>
          <a:prstGeom prst="rect">
            <a:avLst/>
          </a:prstGeom>
        </p:spPr>
      </p:pic>
      <p:sp>
        <p:nvSpPr>
          <p:cNvPr name="AutoShape 3" id="3"/>
          <p:cNvSpPr/>
          <p:nvPr/>
        </p:nvSpPr>
        <p:spPr>
          <a:xfrm>
            <a:off x="2685125" y="1747687"/>
            <a:ext cx="1287364" cy="0"/>
          </a:xfrm>
          <a:prstGeom prst="line">
            <a:avLst/>
          </a:prstGeom>
          <a:ln cap="flat" w="19050">
            <a:solidFill>
              <a:srgbClr val="000000"/>
            </a:solidFill>
            <a:prstDash val="solid"/>
            <a:headEnd type="none" len="sm" w="sm"/>
            <a:tailEnd type="arrow" len="sm" w="med"/>
          </a:ln>
        </p:spPr>
      </p:sp>
      <p:sp>
        <p:nvSpPr>
          <p:cNvPr name="AutoShape 4" id="4"/>
          <p:cNvSpPr/>
          <p:nvPr/>
        </p:nvSpPr>
        <p:spPr>
          <a:xfrm flipV="true">
            <a:off x="2695499" y="1747687"/>
            <a:ext cx="0" cy="493909"/>
          </a:xfrm>
          <a:prstGeom prst="line">
            <a:avLst/>
          </a:prstGeom>
          <a:ln cap="flat" w="19050">
            <a:solidFill>
              <a:srgbClr val="000000"/>
            </a:solidFill>
            <a:prstDash val="solid"/>
            <a:headEnd type="none" len="sm" w="sm"/>
            <a:tailEnd type="none" len="sm" w="sm"/>
          </a:ln>
        </p:spPr>
      </p:sp>
      <p:sp>
        <p:nvSpPr>
          <p:cNvPr name="Freeform 5" id="5"/>
          <p:cNvSpPr/>
          <p:nvPr/>
        </p:nvSpPr>
        <p:spPr>
          <a:xfrm flipH="false" flipV="false" rot="0">
            <a:off x="1041292" y="2385054"/>
            <a:ext cx="1177586" cy="462453"/>
          </a:xfrm>
          <a:custGeom>
            <a:avLst/>
            <a:gdLst/>
            <a:ahLst/>
            <a:cxnLst/>
            <a:rect r="r" b="b" t="t" l="l"/>
            <a:pathLst>
              <a:path h="462453" w="1177586">
                <a:moveTo>
                  <a:pt x="0" y="0"/>
                </a:moveTo>
                <a:lnTo>
                  <a:pt x="1177586" y="0"/>
                </a:lnTo>
                <a:lnTo>
                  <a:pt x="1177586" y="462453"/>
                </a:lnTo>
                <a:lnTo>
                  <a:pt x="0" y="462453"/>
                </a:lnTo>
                <a:lnTo>
                  <a:pt x="0" y="0"/>
                </a:lnTo>
                <a:close/>
              </a:path>
            </a:pathLst>
          </a:custGeom>
          <a:blipFill>
            <a:blip r:embed="rId3"/>
            <a:stretch>
              <a:fillRect l="0" t="0" r="0" b="0"/>
            </a:stretch>
          </a:blipFill>
        </p:spPr>
      </p:sp>
      <p:sp>
        <p:nvSpPr>
          <p:cNvPr name="AutoShape 6" id="6"/>
          <p:cNvSpPr/>
          <p:nvPr/>
        </p:nvSpPr>
        <p:spPr>
          <a:xfrm flipH="true">
            <a:off x="1619725" y="2008932"/>
            <a:ext cx="10360" cy="392540"/>
          </a:xfrm>
          <a:prstGeom prst="line">
            <a:avLst/>
          </a:prstGeom>
          <a:ln cap="flat" w="19050">
            <a:solidFill>
              <a:srgbClr val="000000"/>
            </a:solidFill>
            <a:prstDash val="solid"/>
            <a:headEnd type="none" len="sm" w="sm"/>
            <a:tailEnd type="arrow" len="sm" w="med"/>
          </a:ln>
        </p:spPr>
      </p:sp>
      <p:sp>
        <p:nvSpPr>
          <p:cNvPr name="AutoShape 7" id="7"/>
          <p:cNvSpPr/>
          <p:nvPr/>
        </p:nvSpPr>
        <p:spPr>
          <a:xfrm flipH="true" flipV="true">
            <a:off x="1619725" y="1998558"/>
            <a:ext cx="1065400" cy="0"/>
          </a:xfrm>
          <a:prstGeom prst="line">
            <a:avLst/>
          </a:prstGeom>
          <a:ln cap="flat" w="19050">
            <a:solidFill>
              <a:srgbClr val="000000"/>
            </a:solidFill>
            <a:prstDash val="solid"/>
            <a:headEnd type="none" len="sm" w="sm"/>
            <a:tailEnd type="none" len="sm" w="sm"/>
          </a:ln>
        </p:spPr>
      </p:sp>
      <p:grpSp>
        <p:nvGrpSpPr>
          <p:cNvPr name="Group 8" id="8"/>
          <p:cNvGrpSpPr/>
          <p:nvPr/>
        </p:nvGrpSpPr>
        <p:grpSpPr>
          <a:xfrm rot="0">
            <a:off x="3993705" y="238857"/>
            <a:ext cx="10380401" cy="2711666"/>
            <a:chOff x="0" y="0"/>
            <a:chExt cx="11907674" cy="3110635"/>
          </a:xfrm>
        </p:grpSpPr>
        <p:sp>
          <p:nvSpPr>
            <p:cNvPr name="Freeform 9" id="9"/>
            <p:cNvSpPr/>
            <p:nvPr/>
          </p:nvSpPr>
          <p:spPr>
            <a:xfrm flipH="false" flipV="false" rot="0">
              <a:off x="0" y="0"/>
              <a:ext cx="11907674" cy="3110635"/>
            </a:xfrm>
            <a:custGeom>
              <a:avLst/>
              <a:gdLst/>
              <a:ahLst/>
              <a:cxnLst/>
              <a:rect r="r" b="b" t="t" l="l"/>
              <a:pathLst>
                <a:path h="3110635" w="11907674">
                  <a:moveTo>
                    <a:pt x="0" y="0"/>
                  </a:moveTo>
                  <a:lnTo>
                    <a:pt x="11907674" y="0"/>
                  </a:lnTo>
                  <a:lnTo>
                    <a:pt x="11907674" y="3110635"/>
                  </a:lnTo>
                  <a:lnTo>
                    <a:pt x="0" y="3110635"/>
                  </a:lnTo>
                  <a:close/>
                </a:path>
              </a:pathLst>
            </a:custGeom>
            <a:solidFill>
              <a:srgbClr val="D5E5EB"/>
            </a:solidFill>
            <a:ln w="19050" cap="sq">
              <a:solidFill>
                <a:srgbClr val="000000"/>
              </a:solidFill>
              <a:prstDash val="solid"/>
              <a:miter/>
            </a:ln>
          </p:spPr>
        </p:sp>
        <p:sp>
          <p:nvSpPr>
            <p:cNvPr name="TextBox 10" id="10"/>
            <p:cNvSpPr txBox="true"/>
            <p:nvPr/>
          </p:nvSpPr>
          <p:spPr>
            <a:xfrm>
              <a:off x="0" y="0"/>
              <a:ext cx="11907674" cy="3110635"/>
            </a:xfrm>
            <a:prstGeom prst="rect">
              <a:avLst/>
            </a:prstGeom>
          </p:spPr>
          <p:txBody>
            <a:bodyPr anchor="ctr" rtlCol="false" tIns="12291" lIns="12291" bIns="12291" rIns="12291"/>
            <a:lstStyle/>
            <a:p>
              <a:pPr algn="ctr">
                <a:lnSpc>
                  <a:spcPts val="528"/>
                </a:lnSpc>
              </a:pPr>
            </a:p>
          </p:txBody>
        </p:sp>
      </p:grpSp>
      <p:grpSp>
        <p:nvGrpSpPr>
          <p:cNvPr name="Group 11" id="11"/>
          <p:cNvGrpSpPr/>
          <p:nvPr/>
        </p:nvGrpSpPr>
        <p:grpSpPr>
          <a:xfrm rot="0">
            <a:off x="4116986" y="1068806"/>
            <a:ext cx="2302715" cy="1681998"/>
            <a:chOff x="0" y="0"/>
            <a:chExt cx="1935961" cy="1414106"/>
          </a:xfrm>
        </p:grpSpPr>
        <p:sp>
          <p:nvSpPr>
            <p:cNvPr name="Freeform 12" id="12"/>
            <p:cNvSpPr/>
            <p:nvPr/>
          </p:nvSpPr>
          <p:spPr>
            <a:xfrm flipH="false" flipV="false" rot="0">
              <a:off x="0" y="0"/>
              <a:ext cx="1935961" cy="1414106"/>
            </a:xfrm>
            <a:custGeom>
              <a:avLst/>
              <a:gdLst/>
              <a:ahLst/>
              <a:cxnLst/>
              <a:rect r="r" b="b" t="t" l="l"/>
              <a:pathLst>
                <a:path h="1414106" w="1935961">
                  <a:moveTo>
                    <a:pt x="0" y="0"/>
                  </a:moveTo>
                  <a:lnTo>
                    <a:pt x="1935961" y="0"/>
                  </a:lnTo>
                  <a:lnTo>
                    <a:pt x="1935961" y="1414106"/>
                  </a:lnTo>
                  <a:lnTo>
                    <a:pt x="0" y="1414106"/>
                  </a:lnTo>
                  <a:close/>
                </a:path>
              </a:pathLst>
            </a:custGeom>
            <a:solidFill>
              <a:srgbClr val="CEB3D5"/>
            </a:solidFill>
            <a:ln cap="sq">
              <a:noFill/>
              <a:prstDash val="solid"/>
              <a:miter/>
            </a:ln>
          </p:spPr>
        </p:sp>
        <p:sp>
          <p:nvSpPr>
            <p:cNvPr name="TextBox 13" id="13"/>
            <p:cNvSpPr txBox="true"/>
            <p:nvPr/>
          </p:nvSpPr>
          <p:spPr>
            <a:xfrm>
              <a:off x="0" y="0"/>
              <a:ext cx="1935961" cy="1414106"/>
            </a:xfrm>
            <a:prstGeom prst="rect">
              <a:avLst/>
            </a:prstGeom>
          </p:spPr>
          <p:txBody>
            <a:bodyPr anchor="ctr" rtlCol="false" tIns="12291" lIns="12291" bIns="12291" rIns="12291"/>
            <a:lstStyle/>
            <a:p>
              <a:pPr algn="ctr">
                <a:lnSpc>
                  <a:spcPts val="528"/>
                </a:lnSpc>
              </a:pPr>
            </a:p>
          </p:txBody>
        </p:sp>
      </p:grpSp>
      <p:grpSp>
        <p:nvGrpSpPr>
          <p:cNvPr name="Group 14" id="14"/>
          <p:cNvGrpSpPr/>
          <p:nvPr/>
        </p:nvGrpSpPr>
        <p:grpSpPr>
          <a:xfrm rot="0">
            <a:off x="6517912" y="1068806"/>
            <a:ext cx="2401022" cy="1681998"/>
            <a:chOff x="0" y="0"/>
            <a:chExt cx="1877903" cy="1315535"/>
          </a:xfrm>
        </p:grpSpPr>
        <p:sp>
          <p:nvSpPr>
            <p:cNvPr name="Freeform 15" id="15"/>
            <p:cNvSpPr/>
            <p:nvPr/>
          </p:nvSpPr>
          <p:spPr>
            <a:xfrm flipH="false" flipV="false" rot="0">
              <a:off x="0" y="0"/>
              <a:ext cx="1877903" cy="1315535"/>
            </a:xfrm>
            <a:custGeom>
              <a:avLst/>
              <a:gdLst/>
              <a:ahLst/>
              <a:cxnLst/>
              <a:rect r="r" b="b" t="t" l="l"/>
              <a:pathLst>
                <a:path h="1315535" w="1877903">
                  <a:moveTo>
                    <a:pt x="0" y="0"/>
                  </a:moveTo>
                  <a:lnTo>
                    <a:pt x="1877903" y="0"/>
                  </a:lnTo>
                  <a:lnTo>
                    <a:pt x="1877903" y="1315535"/>
                  </a:lnTo>
                  <a:lnTo>
                    <a:pt x="0" y="1315535"/>
                  </a:lnTo>
                  <a:close/>
                </a:path>
              </a:pathLst>
            </a:custGeom>
            <a:solidFill>
              <a:srgbClr val="D9CBBC"/>
            </a:solidFill>
            <a:ln cap="sq">
              <a:noFill/>
              <a:prstDash val="solid"/>
              <a:miter/>
            </a:ln>
          </p:spPr>
        </p:sp>
        <p:sp>
          <p:nvSpPr>
            <p:cNvPr name="TextBox 16" id="16"/>
            <p:cNvSpPr txBox="true"/>
            <p:nvPr/>
          </p:nvSpPr>
          <p:spPr>
            <a:xfrm>
              <a:off x="0" y="0"/>
              <a:ext cx="1877903" cy="1315535"/>
            </a:xfrm>
            <a:prstGeom prst="rect">
              <a:avLst/>
            </a:prstGeom>
          </p:spPr>
          <p:txBody>
            <a:bodyPr anchor="ctr" rtlCol="false" tIns="12291" lIns="12291" bIns="12291" rIns="12291"/>
            <a:lstStyle/>
            <a:p>
              <a:pPr algn="ctr">
                <a:lnSpc>
                  <a:spcPts val="528"/>
                </a:lnSpc>
              </a:pPr>
            </a:p>
          </p:txBody>
        </p:sp>
      </p:grpSp>
      <p:grpSp>
        <p:nvGrpSpPr>
          <p:cNvPr name="Group 17" id="17"/>
          <p:cNvGrpSpPr/>
          <p:nvPr/>
        </p:nvGrpSpPr>
        <p:grpSpPr>
          <a:xfrm rot="0">
            <a:off x="9033965" y="1068806"/>
            <a:ext cx="2597854" cy="1681998"/>
            <a:chOff x="0" y="0"/>
            <a:chExt cx="2175401" cy="1408478"/>
          </a:xfrm>
        </p:grpSpPr>
        <p:sp>
          <p:nvSpPr>
            <p:cNvPr name="Freeform 18" id="18"/>
            <p:cNvSpPr/>
            <p:nvPr/>
          </p:nvSpPr>
          <p:spPr>
            <a:xfrm flipH="false" flipV="false" rot="0">
              <a:off x="0" y="0"/>
              <a:ext cx="2175401" cy="1408478"/>
            </a:xfrm>
            <a:custGeom>
              <a:avLst/>
              <a:gdLst/>
              <a:ahLst/>
              <a:cxnLst/>
              <a:rect r="r" b="b" t="t" l="l"/>
              <a:pathLst>
                <a:path h="1408478" w="2175401">
                  <a:moveTo>
                    <a:pt x="0" y="0"/>
                  </a:moveTo>
                  <a:lnTo>
                    <a:pt x="2175401" y="0"/>
                  </a:lnTo>
                  <a:lnTo>
                    <a:pt x="2175401" y="1408478"/>
                  </a:lnTo>
                  <a:lnTo>
                    <a:pt x="0" y="1408478"/>
                  </a:lnTo>
                  <a:close/>
                </a:path>
              </a:pathLst>
            </a:custGeom>
            <a:solidFill>
              <a:srgbClr val="DAF0BD"/>
            </a:solidFill>
            <a:ln cap="sq">
              <a:noFill/>
              <a:prstDash val="solid"/>
              <a:miter/>
            </a:ln>
          </p:spPr>
        </p:sp>
        <p:sp>
          <p:nvSpPr>
            <p:cNvPr name="TextBox 19" id="19"/>
            <p:cNvSpPr txBox="true"/>
            <p:nvPr/>
          </p:nvSpPr>
          <p:spPr>
            <a:xfrm>
              <a:off x="0" y="0"/>
              <a:ext cx="2175401" cy="1408478"/>
            </a:xfrm>
            <a:prstGeom prst="rect">
              <a:avLst/>
            </a:prstGeom>
          </p:spPr>
          <p:txBody>
            <a:bodyPr anchor="ctr" rtlCol="false" tIns="12291" lIns="12291" bIns="12291" rIns="12291"/>
            <a:lstStyle/>
            <a:p>
              <a:pPr algn="ctr">
                <a:lnSpc>
                  <a:spcPts val="528"/>
                </a:lnSpc>
              </a:pPr>
            </a:p>
          </p:txBody>
        </p:sp>
      </p:grpSp>
      <p:grpSp>
        <p:nvGrpSpPr>
          <p:cNvPr name="Group 20" id="20"/>
          <p:cNvGrpSpPr/>
          <p:nvPr/>
        </p:nvGrpSpPr>
        <p:grpSpPr>
          <a:xfrm rot="0">
            <a:off x="11776600" y="1085369"/>
            <a:ext cx="2446052" cy="1665434"/>
            <a:chOff x="0" y="0"/>
            <a:chExt cx="2035221" cy="1385713"/>
          </a:xfrm>
        </p:grpSpPr>
        <p:sp>
          <p:nvSpPr>
            <p:cNvPr name="Freeform 21" id="21"/>
            <p:cNvSpPr/>
            <p:nvPr/>
          </p:nvSpPr>
          <p:spPr>
            <a:xfrm flipH="false" flipV="false" rot="0">
              <a:off x="0" y="0"/>
              <a:ext cx="2035221" cy="1385713"/>
            </a:xfrm>
            <a:custGeom>
              <a:avLst/>
              <a:gdLst/>
              <a:ahLst/>
              <a:cxnLst/>
              <a:rect r="r" b="b" t="t" l="l"/>
              <a:pathLst>
                <a:path h="1385713" w="2035221">
                  <a:moveTo>
                    <a:pt x="0" y="0"/>
                  </a:moveTo>
                  <a:lnTo>
                    <a:pt x="2035221" y="0"/>
                  </a:lnTo>
                  <a:lnTo>
                    <a:pt x="2035221" y="1385713"/>
                  </a:lnTo>
                  <a:lnTo>
                    <a:pt x="0" y="1385713"/>
                  </a:lnTo>
                  <a:close/>
                </a:path>
              </a:pathLst>
            </a:custGeom>
            <a:solidFill>
              <a:srgbClr val="E0B3B3"/>
            </a:solidFill>
            <a:ln cap="sq">
              <a:noFill/>
              <a:prstDash val="solid"/>
              <a:miter/>
            </a:ln>
          </p:spPr>
        </p:sp>
        <p:sp>
          <p:nvSpPr>
            <p:cNvPr name="TextBox 22" id="22"/>
            <p:cNvSpPr txBox="true"/>
            <p:nvPr/>
          </p:nvSpPr>
          <p:spPr>
            <a:xfrm>
              <a:off x="0" y="0"/>
              <a:ext cx="2035221" cy="1385713"/>
            </a:xfrm>
            <a:prstGeom prst="rect">
              <a:avLst/>
            </a:prstGeom>
          </p:spPr>
          <p:txBody>
            <a:bodyPr anchor="ctr" rtlCol="false" tIns="12291" lIns="12291" bIns="12291" rIns="12291"/>
            <a:lstStyle/>
            <a:p>
              <a:pPr algn="ctr">
                <a:lnSpc>
                  <a:spcPts val="528"/>
                </a:lnSpc>
              </a:pPr>
            </a:p>
          </p:txBody>
        </p:sp>
      </p:grpSp>
      <p:sp>
        <p:nvSpPr>
          <p:cNvPr name="Freeform 23" id="23"/>
          <p:cNvSpPr/>
          <p:nvPr/>
        </p:nvSpPr>
        <p:spPr>
          <a:xfrm flipH="false" flipV="false" rot="0">
            <a:off x="9234668" y="371367"/>
            <a:ext cx="661530" cy="661530"/>
          </a:xfrm>
          <a:custGeom>
            <a:avLst/>
            <a:gdLst/>
            <a:ahLst/>
            <a:cxnLst/>
            <a:rect r="r" b="b" t="t" l="l"/>
            <a:pathLst>
              <a:path h="661530" w="661530">
                <a:moveTo>
                  <a:pt x="0" y="0"/>
                </a:moveTo>
                <a:lnTo>
                  <a:pt x="661530" y="0"/>
                </a:lnTo>
                <a:lnTo>
                  <a:pt x="661530" y="661530"/>
                </a:lnTo>
                <a:lnTo>
                  <a:pt x="0" y="661530"/>
                </a:lnTo>
                <a:lnTo>
                  <a:pt x="0" y="0"/>
                </a:lnTo>
                <a:close/>
              </a:path>
            </a:pathLst>
          </a:custGeom>
          <a:blipFill>
            <a:blip r:embed="rId4"/>
            <a:stretch>
              <a:fillRect l="0" t="0" r="0" b="0"/>
            </a:stretch>
          </a:blipFill>
        </p:spPr>
      </p:sp>
      <p:sp>
        <p:nvSpPr>
          <p:cNvPr name="Freeform 24" id="24"/>
          <p:cNvSpPr/>
          <p:nvPr/>
        </p:nvSpPr>
        <p:spPr>
          <a:xfrm flipH="false" flipV="false" rot="0">
            <a:off x="10332892" y="397907"/>
            <a:ext cx="564537" cy="564537"/>
          </a:xfrm>
          <a:custGeom>
            <a:avLst/>
            <a:gdLst/>
            <a:ahLst/>
            <a:cxnLst/>
            <a:rect r="r" b="b" t="t" l="l"/>
            <a:pathLst>
              <a:path h="564537" w="564537">
                <a:moveTo>
                  <a:pt x="0" y="0"/>
                </a:moveTo>
                <a:lnTo>
                  <a:pt x="564537" y="0"/>
                </a:lnTo>
                <a:lnTo>
                  <a:pt x="564537" y="564537"/>
                </a:lnTo>
                <a:lnTo>
                  <a:pt x="0" y="564537"/>
                </a:lnTo>
                <a:lnTo>
                  <a:pt x="0" y="0"/>
                </a:lnTo>
                <a:close/>
              </a:path>
            </a:pathLst>
          </a:custGeom>
          <a:blipFill>
            <a:blip r:embed="rId5"/>
            <a:stretch>
              <a:fillRect l="0" t="0" r="0" b="0"/>
            </a:stretch>
          </a:blipFill>
        </p:spPr>
      </p:sp>
      <p:sp>
        <p:nvSpPr>
          <p:cNvPr name="Freeform 25" id="25"/>
          <p:cNvSpPr/>
          <p:nvPr/>
        </p:nvSpPr>
        <p:spPr>
          <a:xfrm flipH="false" flipV="false" rot="0">
            <a:off x="11255802" y="254051"/>
            <a:ext cx="1623376" cy="900974"/>
          </a:xfrm>
          <a:custGeom>
            <a:avLst/>
            <a:gdLst/>
            <a:ahLst/>
            <a:cxnLst/>
            <a:rect r="r" b="b" t="t" l="l"/>
            <a:pathLst>
              <a:path h="900974" w="1623376">
                <a:moveTo>
                  <a:pt x="0" y="0"/>
                </a:moveTo>
                <a:lnTo>
                  <a:pt x="1623376" y="0"/>
                </a:lnTo>
                <a:lnTo>
                  <a:pt x="1623376" y="900974"/>
                </a:lnTo>
                <a:lnTo>
                  <a:pt x="0" y="900974"/>
                </a:lnTo>
                <a:lnTo>
                  <a:pt x="0" y="0"/>
                </a:lnTo>
                <a:close/>
              </a:path>
            </a:pathLst>
          </a:custGeom>
          <a:blipFill>
            <a:blip r:embed="rId6"/>
            <a:stretch>
              <a:fillRect l="0" t="0" r="0" b="0"/>
            </a:stretch>
          </a:blipFill>
        </p:spPr>
      </p:sp>
      <p:sp>
        <p:nvSpPr>
          <p:cNvPr name="Freeform 26" id="26"/>
          <p:cNvSpPr/>
          <p:nvPr/>
        </p:nvSpPr>
        <p:spPr>
          <a:xfrm flipH="false" flipV="false" rot="0">
            <a:off x="12976584" y="300914"/>
            <a:ext cx="975977" cy="731983"/>
          </a:xfrm>
          <a:custGeom>
            <a:avLst/>
            <a:gdLst/>
            <a:ahLst/>
            <a:cxnLst/>
            <a:rect r="r" b="b" t="t" l="l"/>
            <a:pathLst>
              <a:path h="731983" w="975977">
                <a:moveTo>
                  <a:pt x="0" y="0"/>
                </a:moveTo>
                <a:lnTo>
                  <a:pt x="975977" y="0"/>
                </a:lnTo>
                <a:lnTo>
                  <a:pt x="975977" y="731983"/>
                </a:lnTo>
                <a:lnTo>
                  <a:pt x="0" y="731983"/>
                </a:lnTo>
                <a:lnTo>
                  <a:pt x="0" y="0"/>
                </a:lnTo>
                <a:close/>
              </a:path>
            </a:pathLst>
          </a:custGeom>
          <a:blipFill>
            <a:blip r:embed="rId7"/>
            <a:stretch>
              <a:fillRect l="0" t="0" r="0" b="0"/>
            </a:stretch>
          </a:blipFill>
        </p:spPr>
      </p:sp>
      <p:grpSp>
        <p:nvGrpSpPr>
          <p:cNvPr name="Group 27" id="27"/>
          <p:cNvGrpSpPr/>
          <p:nvPr/>
        </p:nvGrpSpPr>
        <p:grpSpPr>
          <a:xfrm rot="0">
            <a:off x="13931691" y="3338566"/>
            <a:ext cx="4165754" cy="5949404"/>
            <a:chOff x="0" y="0"/>
            <a:chExt cx="3702242" cy="5287431"/>
          </a:xfrm>
        </p:grpSpPr>
        <p:sp>
          <p:nvSpPr>
            <p:cNvPr name="Freeform 28" id="28"/>
            <p:cNvSpPr/>
            <p:nvPr/>
          </p:nvSpPr>
          <p:spPr>
            <a:xfrm flipH="false" flipV="false" rot="0">
              <a:off x="0" y="0"/>
              <a:ext cx="3702242" cy="5287430"/>
            </a:xfrm>
            <a:custGeom>
              <a:avLst/>
              <a:gdLst/>
              <a:ahLst/>
              <a:cxnLst/>
              <a:rect r="r" b="b" t="t" l="l"/>
              <a:pathLst>
                <a:path h="5287430" w="3702242">
                  <a:moveTo>
                    <a:pt x="0" y="0"/>
                  </a:moveTo>
                  <a:lnTo>
                    <a:pt x="3702242" y="0"/>
                  </a:lnTo>
                  <a:lnTo>
                    <a:pt x="3702242" y="5287430"/>
                  </a:lnTo>
                  <a:lnTo>
                    <a:pt x="0" y="5287430"/>
                  </a:lnTo>
                  <a:close/>
                </a:path>
              </a:pathLst>
            </a:custGeom>
            <a:solidFill>
              <a:srgbClr val="DAF0BD"/>
            </a:solidFill>
            <a:ln w="19050" cap="sq">
              <a:solidFill>
                <a:srgbClr val="000000"/>
              </a:solidFill>
              <a:prstDash val="solid"/>
              <a:miter/>
            </a:ln>
          </p:spPr>
        </p:sp>
        <p:sp>
          <p:nvSpPr>
            <p:cNvPr name="TextBox 29" id="29"/>
            <p:cNvSpPr txBox="true"/>
            <p:nvPr/>
          </p:nvSpPr>
          <p:spPr>
            <a:xfrm>
              <a:off x="0" y="0"/>
              <a:ext cx="3702242" cy="5287431"/>
            </a:xfrm>
            <a:prstGeom prst="rect">
              <a:avLst/>
            </a:prstGeom>
          </p:spPr>
          <p:txBody>
            <a:bodyPr anchor="ctr" rtlCol="false" tIns="12291" lIns="12291" bIns="12291" rIns="12291"/>
            <a:lstStyle/>
            <a:p>
              <a:pPr algn="ctr">
                <a:lnSpc>
                  <a:spcPts val="528"/>
                </a:lnSpc>
              </a:pPr>
            </a:p>
          </p:txBody>
        </p:sp>
      </p:grpSp>
      <p:grpSp>
        <p:nvGrpSpPr>
          <p:cNvPr name="Group 30" id="30"/>
          <p:cNvGrpSpPr/>
          <p:nvPr/>
        </p:nvGrpSpPr>
        <p:grpSpPr>
          <a:xfrm rot="0">
            <a:off x="14135341" y="4186863"/>
            <a:ext cx="2709329" cy="1665434"/>
            <a:chOff x="0" y="0"/>
            <a:chExt cx="2254278" cy="1385713"/>
          </a:xfrm>
        </p:grpSpPr>
        <p:sp>
          <p:nvSpPr>
            <p:cNvPr name="Freeform 31" id="31"/>
            <p:cNvSpPr/>
            <p:nvPr/>
          </p:nvSpPr>
          <p:spPr>
            <a:xfrm flipH="false" flipV="false" rot="0">
              <a:off x="0" y="0"/>
              <a:ext cx="2254278" cy="1385713"/>
            </a:xfrm>
            <a:custGeom>
              <a:avLst/>
              <a:gdLst/>
              <a:ahLst/>
              <a:cxnLst/>
              <a:rect r="r" b="b" t="t" l="l"/>
              <a:pathLst>
                <a:path h="1385713" w="2254278">
                  <a:moveTo>
                    <a:pt x="0" y="0"/>
                  </a:moveTo>
                  <a:lnTo>
                    <a:pt x="2254278" y="0"/>
                  </a:lnTo>
                  <a:lnTo>
                    <a:pt x="2254278" y="1385713"/>
                  </a:lnTo>
                  <a:lnTo>
                    <a:pt x="0" y="1385713"/>
                  </a:lnTo>
                  <a:close/>
                </a:path>
              </a:pathLst>
            </a:custGeom>
            <a:solidFill>
              <a:srgbClr val="E0B3B3"/>
            </a:solidFill>
            <a:ln cap="sq">
              <a:noFill/>
              <a:prstDash val="solid"/>
              <a:miter/>
            </a:ln>
          </p:spPr>
        </p:sp>
        <p:sp>
          <p:nvSpPr>
            <p:cNvPr name="TextBox 32" id="32"/>
            <p:cNvSpPr txBox="true"/>
            <p:nvPr/>
          </p:nvSpPr>
          <p:spPr>
            <a:xfrm>
              <a:off x="0" y="0"/>
              <a:ext cx="2254278" cy="1385713"/>
            </a:xfrm>
            <a:prstGeom prst="rect">
              <a:avLst/>
            </a:prstGeom>
          </p:spPr>
          <p:txBody>
            <a:bodyPr anchor="ctr" rtlCol="false" tIns="12291" lIns="12291" bIns="12291" rIns="12291"/>
            <a:lstStyle/>
            <a:p>
              <a:pPr algn="ctr">
                <a:lnSpc>
                  <a:spcPts val="528"/>
                </a:lnSpc>
              </a:pPr>
            </a:p>
          </p:txBody>
        </p:sp>
      </p:grpSp>
      <p:sp>
        <p:nvSpPr>
          <p:cNvPr name="TextBox 33" id="33"/>
          <p:cNvSpPr txBox="true"/>
          <p:nvPr/>
        </p:nvSpPr>
        <p:spPr>
          <a:xfrm rot="0">
            <a:off x="14135341" y="4309640"/>
            <a:ext cx="2538646" cy="1763551"/>
          </a:xfrm>
          <a:prstGeom prst="rect">
            <a:avLst/>
          </a:prstGeom>
        </p:spPr>
        <p:txBody>
          <a:bodyPr anchor="t" rtlCol="false" tIns="0" lIns="0" bIns="0" rIns="0">
            <a:spAutoFit/>
          </a:bodyPr>
          <a:lstStyle/>
          <a:p>
            <a:pPr algn="ctr">
              <a:lnSpc>
                <a:spcPts val="1773"/>
              </a:lnSpc>
              <a:spcBef>
                <a:spcPct val="0"/>
              </a:spcBef>
            </a:pPr>
            <a:r>
              <a:rPr lang="en-US" b="true" sz="1266">
                <a:solidFill>
                  <a:srgbClr val="000000"/>
                </a:solidFill>
                <a:latin typeface="Open Sans Bold"/>
                <a:ea typeface="Open Sans Bold"/>
                <a:cs typeface="Open Sans Bold"/>
                <a:sym typeface="Open Sans Bold"/>
              </a:rPr>
              <a:t>Core Serv</a:t>
            </a:r>
            <a:r>
              <a:rPr lang="en-US" b="true" sz="1266">
                <a:solidFill>
                  <a:srgbClr val="000000"/>
                </a:solidFill>
                <a:latin typeface="Open Sans Bold"/>
                <a:ea typeface="Open Sans Bold"/>
                <a:cs typeface="Open Sans Bold"/>
                <a:sym typeface="Open Sans Bold"/>
              </a:rPr>
              <a:t>ices</a:t>
            </a:r>
          </a:p>
          <a:p>
            <a:pPr algn="just" marL="273453" indent="-136727" lvl="1">
              <a:lnSpc>
                <a:spcPts val="1773"/>
              </a:lnSpc>
              <a:buFont typeface="Arial"/>
              <a:buChar char="•"/>
            </a:pPr>
            <a:r>
              <a:rPr lang="en-US" sz="1266">
                <a:solidFill>
                  <a:srgbClr val="000000"/>
                </a:solidFill>
                <a:latin typeface="Open Sans"/>
                <a:ea typeface="Open Sans"/>
                <a:cs typeface="Open Sans"/>
                <a:sym typeface="Open Sans"/>
              </a:rPr>
              <a:t>Authentication Service</a:t>
            </a:r>
          </a:p>
          <a:p>
            <a:pPr algn="just" marL="273453" indent="-136727" lvl="1">
              <a:lnSpc>
                <a:spcPts val="1773"/>
              </a:lnSpc>
              <a:buFont typeface="Arial"/>
              <a:buChar char="•"/>
            </a:pPr>
            <a:r>
              <a:rPr lang="en-US" sz="1266">
                <a:solidFill>
                  <a:srgbClr val="000000"/>
                </a:solidFill>
                <a:latin typeface="Open Sans"/>
                <a:ea typeface="Open Sans"/>
                <a:cs typeface="Open Sans"/>
                <a:sym typeface="Open Sans"/>
              </a:rPr>
              <a:t>User &amp; Role Management</a:t>
            </a:r>
          </a:p>
          <a:p>
            <a:pPr algn="just" marL="273453" indent="-136727" lvl="1">
              <a:lnSpc>
                <a:spcPts val="1773"/>
              </a:lnSpc>
              <a:buFont typeface="Arial"/>
              <a:buChar char="•"/>
            </a:pPr>
            <a:r>
              <a:rPr lang="en-US" sz="1266">
                <a:solidFill>
                  <a:srgbClr val="000000"/>
                </a:solidFill>
                <a:latin typeface="Open Sans"/>
                <a:ea typeface="Open Sans"/>
                <a:cs typeface="Open Sans"/>
                <a:sym typeface="Open Sans"/>
              </a:rPr>
              <a:t>Food Listing Service</a:t>
            </a:r>
          </a:p>
          <a:p>
            <a:pPr algn="just" marL="273453" indent="-136727" lvl="1">
              <a:lnSpc>
                <a:spcPts val="1773"/>
              </a:lnSpc>
              <a:buFont typeface="Arial"/>
              <a:buChar char="•"/>
            </a:pPr>
            <a:r>
              <a:rPr lang="en-US" sz="1266">
                <a:solidFill>
                  <a:srgbClr val="000000"/>
                </a:solidFill>
                <a:latin typeface="Open Sans"/>
                <a:ea typeface="Open Sans"/>
                <a:cs typeface="Open Sans"/>
                <a:sym typeface="Open Sans"/>
              </a:rPr>
              <a:t>Order &amp; Pickup Management</a:t>
            </a:r>
          </a:p>
          <a:p>
            <a:pPr algn="just" marL="273453" indent="-136727" lvl="1">
              <a:lnSpc>
                <a:spcPts val="1773"/>
              </a:lnSpc>
              <a:buFont typeface="Arial"/>
              <a:buChar char="•"/>
            </a:pPr>
            <a:r>
              <a:rPr lang="en-US" sz="1266">
                <a:solidFill>
                  <a:srgbClr val="000000"/>
                </a:solidFill>
                <a:latin typeface="Open Sans"/>
                <a:ea typeface="Open Sans"/>
                <a:cs typeface="Open Sans"/>
                <a:sym typeface="Open Sans"/>
              </a:rPr>
              <a:t>Seller Management Service</a:t>
            </a:r>
          </a:p>
          <a:p>
            <a:pPr algn="just">
              <a:lnSpc>
                <a:spcPts val="1773"/>
              </a:lnSpc>
            </a:pPr>
          </a:p>
          <a:p>
            <a:pPr algn="just">
              <a:lnSpc>
                <a:spcPts val="1773"/>
              </a:lnSpc>
            </a:pPr>
          </a:p>
        </p:txBody>
      </p:sp>
      <p:grpSp>
        <p:nvGrpSpPr>
          <p:cNvPr name="Group 34" id="34"/>
          <p:cNvGrpSpPr/>
          <p:nvPr/>
        </p:nvGrpSpPr>
        <p:grpSpPr>
          <a:xfrm rot="0">
            <a:off x="14126623" y="5956358"/>
            <a:ext cx="2718047" cy="1681998"/>
            <a:chOff x="0" y="0"/>
            <a:chExt cx="2276049" cy="1408478"/>
          </a:xfrm>
        </p:grpSpPr>
        <p:sp>
          <p:nvSpPr>
            <p:cNvPr name="Freeform 35" id="35"/>
            <p:cNvSpPr/>
            <p:nvPr/>
          </p:nvSpPr>
          <p:spPr>
            <a:xfrm flipH="false" flipV="false" rot="0">
              <a:off x="0" y="0"/>
              <a:ext cx="2276049" cy="1408478"/>
            </a:xfrm>
            <a:custGeom>
              <a:avLst/>
              <a:gdLst/>
              <a:ahLst/>
              <a:cxnLst/>
              <a:rect r="r" b="b" t="t" l="l"/>
              <a:pathLst>
                <a:path h="1408478" w="2276049">
                  <a:moveTo>
                    <a:pt x="0" y="0"/>
                  </a:moveTo>
                  <a:lnTo>
                    <a:pt x="2276049" y="0"/>
                  </a:lnTo>
                  <a:lnTo>
                    <a:pt x="2276049" y="1408478"/>
                  </a:lnTo>
                  <a:lnTo>
                    <a:pt x="0" y="1408478"/>
                  </a:lnTo>
                  <a:close/>
                </a:path>
              </a:pathLst>
            </a:custGeom>
            <a:solidFill>
              <a:srgbClr val="E9EEE3"/>
            </a:solidFill>
            <a:ln cap="sq">
              <a:noFill/>
              <a:prstDash val="solid"/>
              <a:miter/>
            </a:ln>
          </p:spPr>
        </p:sp>
        <p:sp>
          <p:nvSpPr>
            <p:cNvPr name="TextBox 36" id="36"/>
            <p:cNvSpPr txBox="true"/>
            <p:nvPr/>
          </p:nvSpPr>
          <p:spPr>
            <a:xfrm>
              <a:off x="0" y="0"/>
              <a:ext cx="2276049" cy="1408478"/>
            </a:xfrm>
            <a:prstGeom prst="rect">
              <a:avLst/>
            </a:prstGeom>
          </p:spPr>
          <p:txBody>
            <a:bodyPr anchor="ctr" rtlCol="false" tIns="12291" lIns="12291" bIns="12291" rIns="12291"/>
            <a:lstStyle/>
            <a:p>
              <a:pPr algn="ctr">
                <a:lnSpc>
                  <a:spcPts val="528"/>
                </a:lnSpc>
              </a:pPr>
            </a:p>
          </p:txBody>
        </p:sp>
      </p:grpSp>
      <p:grpSp>
        <p:nvGrpSpPr>
          <p:cNvPr name="Group 37" id="37"/>
          <p:cNvGrpSpPr/>
          <p:nvPr/>
        </p:nvGrpSpPr>
        <p:grpSpPr>
          <a:xfrm rot="0">
            <a:off x="14135341" y="7722628"/>
            <a:ext cx="2709329" cy="1384805"/>
            <a:chOff x="0" y="0"/>
            <a:chExt cx="2277814" cy="1164247"/>
          </a:xfrm>
        </p:grpSpPr>
        <p:sp>
          <p:nvSpPr>
            <p:cNvPr name="Freeform 38" id="38"/>
            <p:cNvSpPr/>
            <p:nvPr/>
          </p:nvSpPr>
          <p:spPr>
            <a:xfrm flipH="false" flipV="false" rot="0">
              <a:off x="0" y="0"/>
              <a:ext cx="2277814" cy="1164247"/>
            </a:xfrm>
            <a:custGeom>
              <a:avLst/>
              <a:gdLst/>
              <a:ahLst/>
              <a:cxnLst/>
              <a:rect r="r" b="b" t="t" l="l"/>
              <a:pathLst>
                <a:path h="1164247" w="2277814">
                  <a:moveTo>
                    <a:pt x="0" y="0"/>
                  </a:moveTo>
                  <a:lnTo>
                    <a:pt x="2277814" y="0"/>
                  </a:lnTo>
                  <a:lnTo>
                    <a:pt x="2277814" y="1164247"/>
                  </a:lnTo>
                  <a:lnTo>
                    <a:pt x="0" y="1164247"/>
                  </a:lnTo>
                  <a:close/>
                </a:path>
              </a:pathLst>
            </a:custGeom>
            <a:solidFill>
              <a:srgbClr val="CEB3D5"/>
            </a:solidFill>
            <a:ln cap="sq">
              <a:noFill/>
              <a:prstDash val="solid"/>
              <a:miter/>
            </a:ln>
          </p:spPr>
        </p:sp>
        <p:sp>
          <p:nvSpPr>
            <p:cNvPr name="TextBox 39" id="39"/>
            <p:cNvSpPr txBox="true"/>
            <p:nvPr/>
          </p:nvSpPr>
          <p:spPr>
            <a:xfrm>
              <a:off x="0" y="0"/>
              <a:ext cx="2277814" cy="1164247"/>
            </a:xfrm>
            <a:prstGeom prst="rect">
              <a:avLst/>
            </a:prstGeom>
          </p:spPr>
          <p:txBody>
            <a:bodyPr anchor="ctr" rtlCol="false" tIns="12291" lIns="12291" bIns="12291" rIns="12291"/>
            <a:lstStyle/>
            <a:p>
              <a:pPr algn="ctr">
                <a:lnSpc>
                  <a:spcPts val="528"/>
                </a:lnSpc>
              </a:pPr>
            </a:p>
          </p:txBody>
        </p:sp>
      </p:grpSp>
      <p:sp>
        <p:nvSpPr>
          <p:cNvPr name="Freeform 40" id="40"/>
          <p:cNvSpPr/>
          <p:nvPr/>
        </p:nvSpPr>
        <p:spPr>
          <a:xfrm flipH="false" flipV="false" rot="0">
            <a:off x="16984925" y="4075044"/>
            <a:ext cx="900920" cy="945059"/>
          </a:xfrm>
          <a:custGeom>
            <a:avLst/>
            <a:gdLst/>
            <a:ahLst/>
            <a:cxnLst/>
            <a:rect r="r" b="b" t="t" l="l"/>
            <a:pathLst>
              <a:path h="945059" w="900920">
                <a:moveTo>
                  <a:pt x="0" y="0"/>
                </a:moveTo>
                <a:lnTo>
                  <a:pt x="900921" y="0"/>
                </a:lnTo>
                <a:lnTo>
                  <a:pt x="900921" y="945060"/>
                </a:lnTo>
                <a:lnTo>
                  <a:pt x="0" y="945060"/>
                </a:lnTo>
                <a:lnTo>
                  <a:pt x="0" y="0"/>
                </a:lnTo>
                <a:close/>
              </a:path>
            </a:pathLst>
          </a:custGeom>
          <a:blipFill>
            <a:blip r:embed="rId8"/>
            <a:stretch>
              <a:fillRect l="-42967" t="0" r="-44353" b="0"/>
            </a:stretch>
          </a:blipFill>
        </p:spPr>
      </p:sp>
      <p:sp>
        <p:nvSpPr>
          <p:cNvPr name="Freeform 41" id="41"/>
          <p:cNvSpPr/>
          <p:nvPr/>
        </p:nvSpPr>
        <p:spPr>
          <a:xfrm flipH="false" flipV="false" rot="0">
            <a:off x="16843661" y="5568513"/>
            <a:ext cx="1073620" cy="387845"/>
          </a:xfrm>
          <a:custGeom>
            <a:avLst/>
            <a:gdLst/>
            <a:ahLst/>
            <a:cxnLst/>
            <a:rect r="r" b="b" t="t" l="l"/>
            <a:pathLst>
              <a:path h="387845" w="1073620">
                <a:moveTo>
                  <a:pt x="0" y="0"/>
                </a:moveTo>
                <a:lnTo>
                  <a:pt x="1073620" y="0"/>
                </a:lnTo>
                <a:lnTo>
                  <a:pt x="1073620" y="387845"/>
                </a:lnTo>
                <a:lnTo>
                  <a:pt x="0" y="387845"/>
                </a:lnTo>
                <a:lnTo>
                  <a:pt x="0" y="0"/>
                </a:lnTo>
                <a:close/>
              </a:path>
            </a:pathLst>
          </a:custGeom>
          <a:blipFill>
            <a:blip r:embed="rId9"/>
            <a:stretch>
              <a:fillRect l="0" t="0" r="0" b="0"/>
            </a:stretch>
          </a:blipFill>
        </p:spPr>
      </p:sp>
      <p:sp>
        <p:nvSpPr>
          <p:cNvPr name="Freeform 42" id="42"/>
          <p:cNvSpPr/>
          <p:nvPr/>
        </p:nvSpPr>
        <p:spPr>
          <a:xfrm flipH="false" flipV="false" rot="0">
            <a:off x="17016361" y="7205244"/>
            <a:ext cx="900920" cy="921658"/>
          </a:xfrm>
          <a:custGeom>
            <a:avLst/>
            <a:gdLst/>
            <a:ahLst/>
            <a:cxnLst/>
            <a:rect r="r" b="b" t="t" l="l"/>
            <a:pathLst>
              <a:path h="921658" w="900920">
                <a:moveTo>
                  <a:pt x="0" y="0"/>
                </a:moveTo>
                <a:lnTo>
                  <a:pt x="900920" y="0"/>
                </a:lnTo>
                <a:lnTo>
                  <a:pt x="900920" y="921658"/>
                </a:lnTo>
                <a:lnTo>
                  <a:pt x="0" y="921658"/>
                </a:lnTo>
                <a:lnTo>
                  <a:pt x="0" y="0"/>
                </a:lnTo>
                <a:close/>
              </a:path>
            </a:pathLst>
          </a:custGeom>
          <a:blipFill>
            <a:blip r:embed="rId10"/>
            <a:stretch>
              <a:fillRect l="0" t="0" r="0" b="0"/>
            </a:stretch>
          </a:blipFill>
        </p:spPr>
      </p:sp>
      <p:sp>
        <p:nvSpPr>
          <p:cNvPr name="AutoShape 43" id="43"/>
          <p:cNvSpPr/>
          <p:nvPr/>
        </p:nvSpPr>
        <p:spPr>
          <a:xfrm>
            <a:off x="14374106" y="1589035"/>
            <a:ext cx="1083057" cy="0"/>
          </a:xfrm>
          <a:prstGeom prst="line">
            <a:avLst/>
          </a:prstGeom>
          <a:ln cap="flat" w="9525">
            <a:solidFill>
              <a:srgbClr val="000000"/>
            </a:solidFill>
            <a:prstDash val="sysDash"/>
            <a:headEnd type="none" len="sm" w="sm"/>
            <a:tailEnd type="none" len="sm" w="sm"/>
          </a:ln>
        </p:spPr>
      </p:sp>
      <p:sp>
        <p:nvSpPr>
          <p:cNvPr name="AutoShape 44" id="44"/>
          <p:cNvSpPr/>
          <p:nvPr/>
        </p:nvSpPr>
        <p:spPr>
          <a:xfrm>
            <a:off x="15455246" y="1594788"/>
            <a:ext cx="1917" cy="1743778"/>
          </a:xfrm>
          <a:prstGeom prst="line">
            <a:avLst/>
          </a:prstGeom>
          <a:ln cap="flat" w="19050">
            <a:solidFill>
              <a:srgbClr val="000000"/>
            </a:solidFill>
            <a:prstDash val="sysDot"/>
            <a:headEnd type="none" len="sm" w="sm"/>
            <a:tailEnd type="arrow" len="sm" w="med"/>
          </a:ln>
        </p:spPr>
      </p:sp>
      <p:grpSp>
        <p:nvGrpSpPr>
          <p:cNvPr name="Group 45" id="45"/>
          <p:cNvGrpSpPr/>
          <p:nvPr/>
        </p:nvGrpSpPr>
        <p:grpSpPr>
          <a:xfrm rot="0">
            <a:off x="2558987" y="3338566"/>
            <a:ext cx="9995031" cy="2610996"/>
            <a:chOff x="0" y="0"/>
            <a:chExt cx="11907674" cy="3110635"/>
          </a:xfrm>
        </p:grpSpPr>
        <p:sp>
          <p:nvSpPr>
            <p:cNvPr name="Freeform 46" id="46"/>
            <p:cNvSpPr/>
            <p:nvPr/>
          </p:nvSpPr>
          <p:spPr>
            <a:xfrm flipH="false" flipV="false" rot="0">
              <a:off x="0" y="0"/>
              <a:ext cx="11907674" cy="3110635"/>
            </a:xfrm>
            <a:custGeom>
              <a:avLst/>
              <a:gdLst/>
              <a:ahLst/>
              <a:cxnLst/>
              <a:rect r="r" b="b" t="t" l="l"/>
              <a:pathLst>
                <a:path h="3110635" w="11907674">
                  <a:moveTo>
                    <a:pt x="0" y="0"/>
                  </a:moveTo>
                  <a:lnTo>
                    <a:pt x="11907674" y="0"/>
                  </a:lnTo>
                  <a:lnTo>
                    <a:pt x="11907674" y="3110635"/>
                  </a:lnTo>
                  <a:lnTo>
                    <a:pt x="0" y="3110635"/>
                  </a:lnTo>
                  <a:close/>
                </a:path>
              </a:pathLst>
            </a:custGeom>
            <a:solidFill>
              <a:srgbClr val="D5E5EB"/>
            </a:solidFill>
            <a:ln w="19050" cap="sq">
              <a:solidFill>
                <a:srgbClr val="000000"/>
              </a:solidFill>
              <a:prstDash val="solid"/>
              <a:miter/>
            </a:ln>
          </p:spPr>
        </p:sp>
        <p:sp>
          <p:nvSpPr>
            <p:cNvPr name="TextBox 47" id="47"/>
            <p:cNvSpPr txBox="true"/>
            <p:nvPr/>
          </p:nvSpPr>
          <p:spPr>
            <a:xfrm>
              <a:off x="0" y="0"/>
              <a:ext cx="11907674" cy="3110635"/>
            </a:xfrm>
            <a:prstGeom prst="rect">
              <a:avLst/>
            </a:prstGeom>
          </p:spPr>
          <p:txBody>
            <a:bodyPr anchor="ctr" rtlCol="false" tIns="12291" lIns="12291" bIns="12291" rIns="12291"/>
            <a:lstStyle/>
            <a:p>
              <a:pPr algn="ctr">
                <a:lnSpc>
                  <a:spcPts val="528"/>
                </a:lnSpc>
              </a:pPr>
            </a:p>
          </p:txBody>
        </p:sp>
      </p:grpSp>
      <p:grpSp>
        <p:nvGrpSpPr>
          <p:cNvPr name="Group 48" id="48"/>
          <p:cNvGrpSpPr/>
          <p:nvPr/>
        </p:nvGrpSpPr>
        <p:grpSpPr>
          <a:xfrm rot="0">
            <a:off x="2677692" y="4137703"/>
            <a:ext cx="2217227" cy="1619554"/>
            <a:chOff x="0" y="0"/>
            <a:chExt cx="1935961" cy="1414106"/>
          </a:xfrm>
        </p:grpSpPr>
        <p:sp>
          <p:nvSpPr>
            <p:cNvPr name="Freeform 49" id="49"/>
            <p:cNvSpPr/>
            <p:nvPr/>
          </p:nvSpPr>
          <p:spPr>
            <a:xfrm flipH="false" flipV="false" rot="0">
              <a:off x="0" y="0"/>
              <a:ext cx="1935961" cy="1414106"/>
            </a:xfrm>
            <a:custGeom>
              <a:avLst/>
              <a:gdLst/>
              <a:ahLst/>
              <a:cxnLst/>
              <a:rect r="r" b="b" t="t" l="l"/>
              <a:pathLst>
                <a:path h="1414106" w="1935961">
                  <a:moveTo>
                    <a:pt x="0" y="0"/>
                  </a:moveTo>
                  <a:lnTo>
                    <a:pt x="1935961" y="0"/>
                  </a:lnTo>
                  <a:lnTo>
                    <a:pt x="1935961" y="1414106"/>
                  </a:lnTo>
                  <a:lnTo>
                    <a:pt x="0" y="1414106"/>
                  </a:lnTo>
                  <a:close/>
                </a:path>
              </a:pathLst>
            </a:custGeom>
            <a:solidFill>
              <a:srgbClr val="CEB3D5"/>
            </a:solidFill>
            <a:ln cap="sq">
              <a:noFill/>
              <a:prstDash val="solid"/>
              <a:miter/>
            </a:ln>
          </p:spPr>
        </p:sp>
        <p:sp>
          <p:nvSpPr>
            <p:cNvPr name="TextBox 50" id="50"/>
            <p:cNvSpPr txBox="true"/>
            <p:nvPr/>
          </p:nvSpPr>
          <p:spPr>
            <a:xfrm>
              <a:off x="0" y="0"/>
              <a:ext cx="1935961" cy="1414106"/>
            </a:xfrm>
            <a:prstGeom prst="rect">
              <a:avLst/>
            </a:prstGeom>
          </p:spPr>
          <p:txBody>
            <a:bodyPr anchor="ctr" rtlCol="false" tIns="12291" lIns="12291" bIns="12291" rIns="12291"/>
            <a:lstStyle/>
            <a:p>
              <a:pPr algn="ctr">
                <a:lnSpc>
                  <a:spcPts val="528"/>
                </a:lnSpc>
              </a:pPr>
            </a:p>
          </p:txBody>
        </p:sp>
      </p:grpSp>
      <p:grpSp>
        <p:nvGrpSpPr>
          <p:cNvPr name="Group 51" id="51"/>
          <p:cNvGrpSpPr/>
          <p:nvPr/>
        </p:nvGrpSpPr>
        <p:grpSpPr>
          <a:xfrm rot="0">
            <a:off x="4989483" y="4137703"/>
            <a:ext cx="2311885" cy="1619554"/>
            <a:chOff x="0" y="0"/>
            <a:chExt cx="1877903" cy="1315535"/>
          </a:xfrm>
        </p:grpSpPr>
        <p:sp>
          <p:nvSpPr>
            <p:cNvPr name="Freeform 52" id="52"/>
            <p:cNvSpPr/>
            <p:nvPr/>
          </p:nvSpPr>
          <p:spPr>
            <a:xfrm flipH="false" flipV="false" rot="0">
              <a:off x="0" y="0"/>
              <a:ext cx="1877903" cy="1315535"/>
            </a:xfrm>
            <a:custGeom>
              <a:avLst/>
              <a:gdLst/>
              <a:ahLst/>
              <a:cxnLst/>
              <a:rect r="r" b="b" t="t" l="l"/>
              <a:pathLst>
                <a:path h="1315535" w="1877903">
                  <a:moveTo>
                    <a:pt x="0" y="0"/>
                  </a:moveTo>
                  <a:lnTo>
                    <a:pt x="1877903" y="0"/>
                  </a:lnTo>
                  <a:lnTo>
                    <a:pt x="1877903" y="1315535"/>
                  </a:lnTo>
                  <a:lnTo>
                    <a:pt x="0" y="1315535"/>
                  </a:lnTo>
                  <a:close/>
                </a:path>
              </a:pathLst>
            </a:custGeom>
            <a:solidFill>
              <a:srgbClr val="D9CBBC"/>
            </a:solidFill>
            <a:ln cap="sq">
              <a:noFill/>
              <a:prstDash val="solid"/>
              <a:miter/>
            </a:ln>
          </p:spPr>
        </p:sp>
        <p:sp>
          <p:nvSpPr>
            <p:cNvPr name="TextBox 53" id="53"/>
            <p:cNvSpPr txBox="true"/>
            <p:nvPr/>
          </p:nvSpPr>
          <p:spPr>
            <a:xfrm>
              <a:off x="0" y="0"/>
              <a:ext cx="1877903" cy="1315535"/>
            </a:xfrm>
            <a:prstGeom prst="rect">
              <a:avLst/>
            </a:prstGeom>
          </p:spPr>
          <p:txBody>
            <a:bodyPr anchor="ctr" rtlCol="false" tIns="12291" lIns="12291" bIns="12291" rIns="12291"/>
            <a:lstStyle/>
            <a:p>
              <a:pPr algn="ctr">
                <a:lnSpc>
                  <a:spcPts val="528"/>
                </a:lnSpc>
              </a:pPr>
            </a:p>
          </p:txBody>
        </p:sp>
      </p:grpSp>
      <p:grpSp>
        <p:nvGrpSpPr>
          <p:cNvPr name="Group 54" id="54"/>
          <p:cNvGrpSpPr/>
          <p:nvPr/>
        </p:nvGrpSpPr>
        <p:grpSpPr>
          <a:xfrm rot="0">
            <a:off x="7412129" y="4137703"/>
            <a:ext cx="2501409" cy="1619554"/>
            <a:chOff x="0" y="0"/>
            <a:chExt cx="2175401" cy="1408478"/>
          </a:xfrm>
        </p:grpSpPr>
        <p:sp>
          <p:nvSpPr>
            <p:cNvPr name="Freeform 55" id="55"/>
            <p:cNvSpPr/>
            <p:nvPr/>
          </p:nvSpPr>
          <p:spPr>
            <a:xfrm flipH="false" flipV="false" rot="0">
              <a:off x="0" y="0"/>
              <a:ext cx="2175401" cy="1408478"/>
            </a:xfrm>
            <a:custGeom>
              <a:avLst/>
              <a:gdLst/>
              <a:ahLst/>
              <a:cxnLst/>
              <a:rect r="r" b="b" t="t" l="l"/>
              <a:pathLst>
                <a:path h="1408478" w="2175401">
                  <a:moveTo>
                    <a:pt x="0" y="0"/>
                  </a:moveTo>
                  <a:lnTo>
                    <a:pt x="2175401" y="0"/>
                  </a:lnTo>
                  <a:lnTo>
                    <a:pt x="2175401" y="1408478"/>
                  </a:lnTo>
                  <a:lnTo>
                    <a:pt x="0" y="1408478"/>
                  </a:lnTo>
                  <a:close/>
                </a:path>
              </a:pathLst>
            </a:custGeom>
            <a:solidFill>
              <a:srgbClr val="DAF0BD"/>
            </a:solidFill>
            <a:ln cap="sq">
              <a:noFill/>
              <a:prstDash val="solid"/>
              <a:miter/>
            </a:ln>
          </p:spPr>
        </p:sp>
        <p:sp>
          <p:nvSpPr>
            <p:cNvPr name="TextBox 56" id="56"/>
            <p:cNvSpPr txBox="true"/>
            <p:nvPr/>
          </p:nvSpPr>
          <p:spPr>
            <a:xfrm>
              <a:off x="0" y="0"/>
              <a:ext cx="2175401" cy="1408478"/>
            </a:xfrm>
            <a:prstGeom prst="rect">
              <a:avLst/>
            </a:prstGeom>
          </p:spPr>
          <p:txBody>
            <a:bodyPr anchor="ctr" rtlCol="false" tIns="12291" lIns="12291" bIns="12291" rIns="12291"/>
            <a:lstStyle/>
            <a:p>
              <a:pPr algn="ctr">
                <a:lnSpc>
                  <a:spcPts val="528"/>
                </a:lnSpc>
              </a:pPr>
            </a:p>
          </p:txBody>
        </p:sp>
      </p:grpSp>
      <p:grpSp>
        <p:nvGrpSpPr>
          <p:cNvPr name="Group 57" id="57"/>
          <p:cNvGrpSpPr/>
          <p:nvPr/>
        </p:nvGrpSpPr>
        <p:grpSpPr>
          <a:xfrm rot="0">
            <a:off x="10052943" y="4153651"/>
            <a:ext cx="2355243" cy="1603605"/>
            <a:chOff x="0" y="0"/>
            <a:chExt cx="2035221" cy="1385713"/>
          </a:xfrm>
        </p:grpSpPr>
        <p:sp>
          <p:nvSpPr>
            <p:cNvPr name="Freeform 58" id="58"/>
            <p:cNvSpPr/>
            <p:nvPr/>
          </p:nvSpPr>
          <p:spPr>
            <a:xfrm flipH="false" flipV="false" rot="0">
              <a:off x="0" y="0"/>
              <a:ext cx="2035221" cy="1385713"/>
            </a:xfrm>
            <a:custGeom>
              <a:avLst/>
              <a:gdLst/>
              <a:ahLst/>
              <a:cxnLst/>
              <a:rect r="r" b="b" t="t" l="l"/>
              <a:pathLst>
                <a:path h="1385713" w="2035221">
                  <a:moveTo>
                    <a:pt x="0" y="0"/>
                  </a:moveTo>
                  <a:lnTo>
                    <a:pt x="2035221" y="0"/>
                  </a:lnTo>
                  <a:lnTo>
                    <a:pt x="2035221" y="1385713"/>
                  </a:lnTo>
                  <a:lnTo>
                    <a:pt x="0" y="1385713"/>
                  </a:lnTo>
                  <a:close/>
                </a:path>
              </a:pathLst>
            </a:custGeom>
            <a:solidFill>
              <a:srgbClr val="E0B3B3"/>
            </a:solidFill>
            <a:ln cap="sq">
              <a:noFill/>
              <a:prstDash val="solid"/>
              <a:miter/>
            </a:ln>
          </p:spPr>
        </p:sp>
        <p:sp>
          <p:nvSpPr>
            <p:cNvPr name="TextBox 59" id="59"/>
            <p:cNvSpPr txBox="true"/>
            <p:nvPr/>
          </p:nvSpPr>
          <p:spPr>
            <a:xfrm>
              <a:off x="0" y="0"/>
              <a:ext cx="2035221" cy="1385713"/>
            </a:xfrm>
            <a:prstGeom prst="rect">
              <a:avLst/>
            </a:prstGeom>
          </p:spPr>
          <p:txBody>
            <a:bodyPr anchor="ctr" rtlCol="false" tIns="12291" lIns="12291" bIns="12291" rIns="12291"/>
            <a:lstStyle/>
            <a:p>
              <a:pPr algn="ctr">
                <a:lnSpc>
                  <a:spcPts val="528"/>
                </a:lnSpc>
              </a:pPr>
            </a:p>
          </p:txBody>
        </p:sp>
      </p:grpSp>
      <p:sp>
        <p:nvSpPr>
          <p:cNvPr name="AutoShape 60" id="60"/>
          <p:cNvSpPr/>
          <p:nvPr/>
        </p:nvSpPr>
        <p:spPr>
          <a:xfrm flipH="true" flipV="true">
            <a:off x="12554018" y="4644064"/>
            <a:ext cx="1377673" cy="0"/>
          </a:xfrm>
          <a:prstGeom prst="line">
            <a:avLst/>
          </a:prstGeom>
          <a:ln cap="flat" w="19050">
            <a:solidFill>
              <a:srgbClr val="000000"/>
            </a:solidFill>
            <a:prstDash val="sysDot"/>
            <a:headEnd type="none" len="sm" w="sm"/>
            <a:tailEnd type="arrow" len="sm" w="med"/>
          </a:ln>
        </p:spPr>
      </p:sp>
      <p:sp>
        <p:nvSpPr>
          <p:cNvPr name="AutoShape 61" id="61"/>
          <p:cNvSpPr/>
          <p:nvPr/>
        </p:nvSpPr>
        <p:spPr>
          <a:xfrm>
            <a:off x="12554018" y="5148826"/>
            <a:ext cx="1372433" cy="0"/>
          </a:xfrm>
          <a:prstGeom prst="line">
            <a:avLst/>
          </a:prstGeom>
          <a:ln cap="flat" w="19050">
            <a:solidFill>
              <a:srgbClr val="000000"/>
            </a:solidFill>
            <a:prstDash val="sysDot"/>
            <a:headEnd type="none" len="sm" w="sm"/>
            <a:tailEnd type="arrow" len="sm" w="med"/>
          </a:ln>
        </p:spPr>
      </p:sp>
      <p:grpSp>
        <p:nvGrpSpPr>
          <p:cNvPr name="Group 62" id="62"/>
          <p:cNvGrpSpPr/>
          <p:nvPr/>
        </p:nvGrpSpPr>
        <p:grpSpPr>
          <a:xfrm rot="0">
            <a:off x="9183905" y="6220778"/>
            <a:ext cx="2447914" cy="3006546"/>
            <a:chOff x="0" y="0"/>
            <a:chExt cx="2059421" cy="2529396"/>
          </a:xfrm>
        </p:grpSpPr>
        <p:sp>
          <p:nvSpPr>
            <p:cNvPr name="Freeform 63" id="63"/>
            <p:cNvSpPr/>
            <p:nvPr/>
          </p:nvSpPr>
          <p:spPr>
            <a:xfrm flipH="false" flipV="false" rot="0">
              <a:off x="0" y="0"/>
              <a:ext cx="2059421" cy="2529396"/>
            </a:xfrm>
            <a:custGeom>
              <a:avLst/>
              <a:gdLst/>
              <a:ahLst/>
              <a:cxnLst/>
              <a:rect r="r" b="b" t="t" l="l"/>
              <a:pathLst>
                <a:path h="2529396" w="2059421">
                  <a:moveTo>
                    <a:pt x="0" y="0"/>
                  </a:moveTo>
                  <a:lnTo>
                    <a:pt x="2059421" y="0"/>
                  </a:lnTo>
                  <a:lnTo>
                    <a:pt x="2059421" y="2529396"/>
                  </a:lnTo>
                  <a:lnTo>
                    <a:pt x="0" y="2529396"/>
                  </a:lnTo>
                  <a:close/>
                </a:path>
              </a:pathLst>
            </a:custGeom>
            <a:solidFill>
              <a:srgbClr val="DAF0BD"/>
            </a:solidFill>
            <a:ln w="19050" cap="sq">
              <a:solidFill>
                <a:srgbClr val="000000"/>
              </a:solidFill>
              <a:prstDash val="solid"/>
              <a:miter/>
            </a:ln>
          </p:spPr>
        </p:sp>
        <p:sp>
          <p:nvSpPr>
            <p:cNvPr name="TextBox 64" id="64"/>
            <p:cNvSpPr txBox="true"/>
            <p:nvPr/>
          </p:nvSpPr>
          <p:spPr>
            <a:xfrm>
              <a:off x="0" y="0"/>
              <a:ext cx="2059421" cy="2529396"/>
            </a:xfrm>
            <a:prstGeom prst="rect">
              <a:avLst/>
            </a:prstGeom>
          </p:spPr>
          <p:txBody>
            <a:bodyPr anchor="ctr" rtlCol="false" tIns="12291" lIns="12291" bIns="12291" rIns="12291"/>
            <a:lstStyle/>
            <a:p>
              <a:pPr algn="ctr">
                <a:lnSpc>
                  <a:spcPts val="528"/>
                </a:lnSpc>
              </a:pPr>
            </a:p>
          </p:txBody>
        </p:sp>
      </p:grpSp>
      <p:grpSp>
        <p:nvGrpSpPr>
          <p:cNvPr name="Group 65" id="65"/>
          <p:cNvGrpSpPr/>
          <p:nvPr/>
        </p:nvGrpSpPr>
        <p:grpSpPr>
          <a:xfrm rot="0">
            <a:off x="9393395" y="6828753"/>
            <a:ext cx="2057847" cy="2267830"/>
            <a:chOff x="0" y="0"/>
            <a:chExt cx="1731259" cy="1907917"/>
          </a:xfrm>
        </p:grpSpPr>
        <p:sp>
          <p:nvSpPr>
            <p:cNvPr name="Freeform 66" id="66"/>
            <p:cNvSpPr/>
            <p:nvPr/>
          </p:nvSpPr>
          <p:spPr>
            <a:xfrm flipH="false" flipV="false" rot="0">
              <a:off x="0" y="0"/>
              <a:ext cx="1731259" cy="1907917"/>
            </a:xfrm>
            <a:custGeom>
              <a:avLst/>
              <a:gdLst/>
              <a:ahLst/>
              <a:cxnLst/>
              <a:rect r="r" b="b" t="t" l="l"/>
              <a:pathLst>
                <a:path h="1907917" w="1731259">
                  <a:moveTo>
                    <a:pt x="0" y="0"/>
                  </a:moveTo>
                  <a:lnTo>
                    <a:pt x="1731259" y="0"/>
                  </a:lnTo>
                  <a:lnTo>
                    <a:pt x="1731259" y="1907917"/>
                  </a:lnTo>
                  <a:lnTo>
                    <a:pt x="0" y="1907917"/>
                  </a:lnTo>
                  <a:close/>
                </a:path>
              </a:pathLst>
            </a:custGeom>
            <a:solidFill>
              <a:srgbClr val="E0B3B3"/>
            </a:solidFill>
            <a:ln cap="sq">
              <a:noFill/>
              <a:prstDash val="solid"/>
              <a:miter/>
            </a:ln>
          </p:spPr>
        </p:sp>
        <p:sp>
          <p:nvSpPr>
            <p:cNvPr name="TextBox 67" id="67"/>
            <p:cNvSpPr txBox="true"/>
            <p:nvPr/>
          </p:nvSpPr>
          <p:spPr>
            <a:xfrm>
              <a:off x="0" y="0"/>
              <a:ext cx="1731259" cy="1907917"/>
            </a:xfrm>
            <a:prstGeom prst="rect">
              <a:avLst/>
            </a:prstGeom>
          </p:spPr>
          <p:txBody>
            <a:bodyPr anchor="ctr" rtlCol="false" tIns="12291" lIns="12291" bIns="12291" rIns="12291"/>
            <a:lstStyle/>
            <a:p>
              <a:pPr algn="ctr">
                <a:lnSpc>
                  <a:spcPts val="528"/>
                </a:lnSpc>
              </a:pPr>
            </a:p>
          </p:txBody>
        </p:sp>
      </p:grpSp>
      <p:sp>
        <p:nvSpPr>
          <p:cNvPr name="AutoShape 68" id="68"/>
          <p:cNvSpPr/>
          <p:nvPr/>
        </p:nvSpPr>
        <p:spPr>
          <a:xfrm flipH="true" flipV="true">
            <a:off x="11617092" y="6924566"/>
            <a:ext cx="2314599" cy="0"/>
          </a:xfrm>
          <a:prstGeom prst="line">
            <a:avLst/>
          </a:prstGeom>
          <a:ln cap="flat" w="19050">
            <a:solidFill>
              <a:srgbClr val="000000"/>
            </a:solidFill>
            <a:prstDash val="sysDot"/>
            <a:headEnd type="arrow" len="sm" w="med"/>
            <a:tailEnd type="arrow" len="sm" w="med"/>
          </a:ln>
        </p:spPr>
      </p:sp>
      <p:sp>
        <p:nvSpPr>
          <p:cNvPr name="Freeform 69" id="69"/>
          <p:cNvSpPr/>
          <p:nvPr/>
        </p:nvSpPr>
        <p:spPr>
          <a:xfrm flipH="false" flipV="false" rot="0">
            <a:off x="17016361" y="6461574"/>
            <a:ext cx="918465" cy="335783"/>
          </a:xfrm>
          <a:custGeom>
            <a:avLst/>
            <a:gdLst/>
            <a:ahLst/>
            <a:cxnLst/>
            <a:rect r="r" b="b" t="t" l="l"/>
            <a:pathLst>
              <a:path h="335783" w="918465">
                <a:moveTo>
                  <a:pt x="0" y="0"/>
                </a:moveTo>
                <a:lnTo>
                  <a:pt x="918465" y="0"/>
                </a:lnTo>
                <a:lnTo>
                  <a:pt x="918465" y="335783"/>
                </a:lnTo>
                <a:lnTo>
                  <a:pt x="0" y="335783"/>
                </a:lnTo>
                <a:lnTo>
                  <a:pt x="0" y="0"/>
                </a:lnTo>
                <a:close/>
              </a:path>
            </a:pathLst>
          </a:custGeom>
          <a:blipFill>
            <a:blip r:embed="rId11"/>
            <a:stretch>
              <a:fillRect l="0" t="0" r="0" b="0"/>
            </a:stretch>
          </a:blipFill>
        </p:spPr>
      </p:sp>
      <p:sp>
        <p:nvSpPr>
          <p:cNvPr name="TextBox 70" id="70"/>
          <p:cNvSpPr txBox="true"/>
          <p:nvPr/>
        </p:nvSpPr>
        <p:spPr>
          <a:xfrm rot="0">
            <a:off x="14135341" y="6101972"/>
            <a:ext cx="2709329" cy="1564101"/>
          </a:xfrm>
          <a:prstGeom prst="rect">
            <a:avLst/>
          </a:prstGeom>
        </p:spPr>
        <p:txBody>
          <a:bodyPr anchor="t" rtlCol="false" tIns="0" lIns="0" bIns="0" rIns="0">
            <a:spAutoFit/>
          </a:bodyPr>
          <a:lstStyle/>
          <a:p>
            <a:pPr algn="ctr">
              <a:lnSpc>
                <a:spcPts val="1773"/>
              </a:lnSpc>
              <a:spcBef>
                <a:spcPct val="0"/>
              </a:spcBef>
            </a:pPr>
            <a:r>
              <a:rPr lang="en-US" b="true" sz="1266">
                <a:solidFill>
                  <a:srgbClr val="000000"/>
                </a:solidFill>
                <a:latin typeface="Open Sans Bold"/>
                <a:ea typeface="Open Sans Bold"/>
                <a:cs typeface="Open Sans Bold"/>
                <a:sym typeface="Open Sans Bold"/>
              </a:rPr>
              <a:t>AI Connected Serv</a:t>
            </a:r>
            <a:r>
              <a:rPr lang="en-US" b="true" sz="1266">
                <a:solidFill>
                  <a:srgbClr val="000000"/>
                </a:solidFill>
                <a:latin typeface="Open Sans Bold"/>
                <a:ea typeface="Open Sans Bold"/>
                <a:cs typeface="Open Sans Bold"/>
                <a:sym typeface="Open Sans Bold"/>
              </a:rPr>
              <a:t>ices</a:t>
            </a:r>
          </a:p>
          <a:p>
            <a:pPr algn="just" marL="273454" indent="-136727" lvl="1">
              <a:lnSpc>
                <a:spcPts val="1773"/>
              </a:lnSpc>
              <a:buFont typeface="Arial"/>
              <a:buChar char="•"/>
            </a:pPr>
            <a:r>
              <a:rPr lang="en-US" sz="1266">
                <a:solidFill>
                  <a:srgbClr val="000000"/>
                </a:solidFill>
                <a:latin typeface="Open Sans"/>
                <a:ea typeface="Open Sans"/>
                <a:cs typeface="Open Sans"/>
                <a:sym typeface="Open Sans"/>
              </a:rPr>
              <a:t>Dy</a:t>
            </a:r>
            <a:r>
              <a:rPr lang="en-US" sz="1266">
                <a:solidFill>
                  <a:srgbClr val="000000"/>
                </a:solidFill>
                <a:latin typeface="Open Sans"/>
                <a:ea typeface="Open Sans"/>
                <a:cs typeface="Open Sans"/>
                <a:sym typeface="Open Sans"/>
              </a:rPr>
              <a:t>namic Pricing Service</a:t>
            </a:r>
          </a:p>
          <a:p>
            <a:pPr algn="just" marL="273454" indent="-136727" lvl="1">
              <a:lnSpc>
                <a:spcPts val="1773"/>
              </a:lnSpc>
              <a:buFont typeface="Arial"/>
              <a:buChar char="•"/>
            </a:pPr>
            <a:r>
              <a:rPr lang="en-US" sz="1266">
                <a:solidFill>
                  <a:srgbClr val="000000"/>
                </a:solidFill>
                <a:latin typeface="Open Sans"/>
                <a:ea typeface="Open Sans"/>
                <a:cs typeface="Open Sans"/>
                <a:sym typeface="Open Sans"/>
              </a:rPr>
              <a:t>Food Recommendation Service</a:t>
            </a:r>
          </a:p>
          <a:p>
            <a:pPr algn="just" marL="273454" indent="-136727" lvl="1">
              <a:lnSpc>
                <a:spcPts val="1773"/>
              </a:lnSpc>
              <a:buFont typeface="Arial"/>
              <a:buChar char="•"/>
            </a:pPr>
            <a:r>
              <a:rPr lang="en-US" sz="1266">
                <a:solidFill>
                  <a:srgbClr val="000000"/>
                </a:solidFill>
                <a:latin typeface="Open Sans"/>
                <a:ea typeface="Open Sans"/>
                <a:cs typeface="Open Sans"/>
                <a:sym typeface="Open Sans"/>
              </a:rPr>
              <a:t>Surplus Prediction Service</a:t>
            </a:r>
          </a:p>
          <a:p>
            <a:pPr algn="just" marL="273454" indent="-136727" lvl="1">
              <a:lnSpc>
                <a:spcPts val="1773"/>
              </a:lnSpc>
              <a:buFont typeface="Arial"/>
              <a:buChar char="•"/>
            </a:pPr>
            <a:r>
              <a:rPr lang="en-US" sz="1266">
                <a:solidFill>
                  <a:srgbClr val="000000"/>
                </a:solidFill>
                <a:latin typeface="Open Sans"/>
                <a:ea typeface="Open Sans"/>
                <a:cs typeface="Open Sans"/>
                <a:sym typeface="Open Sans"/>
              </a:rPr>
              <a:t>NGO Matching Service</a:t>
            </a:r>
          </a:p>
          <a:p>
            <a:pPr algn="l" marL="273454" indent="-136727" lvl="1">
              <a:lnSpc>
                <a:spcPts val="1773"/>
              </a:lnSpc>
              <a:buFont typeface="Arial"/>
              <a:buChar char="•"/>
            </a:pPr>
            <a:r>
              <a:rPr lang="en-US" sz="1266">
                <a:solidFill>
                  <a:srgbClr val="000000"/>
                </a:solidFill>
                <a:latin typeface="Open Sans"/>
                <a:ea typeface="Open Sans"/>
                <a:cs typeface="Open Sans"/>
                <a:sym typeface="Open Sans"/>
              </a:rPr>
              <a:t>Complaint Classification Service</a:t>
            </a:r>
          </a:p>
          <a:p>
            <a:pPr algn="just">
              <a:lnSpc>
                <a:spcPts val="1773"/>
              </a:lnSpc>
            </a:pPr>
          </a:p>
        </p:txBody>
      </p:sp>
      <p:sp>
        <p:nvSpPr>
          <p:cNvPr name="TextBox 71" id="71"/>
          <p:cNvSpPr txBox="true"/>
          <p:nvPr/>
        </p:nvSpPr>
        <p:spPr>
          <a:xfrm rot="0">
            <a:off x="2359649" y="833750"/>
            <a:ext cx="1591813" cy="830947"/>
          </a:xfrm>
          <a:prstGeom prst="rect">
            <a:avLst/>
          </a:prstGeom>
        </p:spPr>
        <p:txBody>
          <a:bodyPr anchor="t" rtlCol="false" tIns="0" lIns="0" bIns="0" rIns="0">
            <a:spAutoFit/>
          </a:bodyPr>
          <a:lstStyle/>
          <a:p>
            <a:pPr algn="ctr">
              <a:lnSpc>
                <a:spcPts val="1680"/>
              </a:lnSpc>
            </a:pPr>
            <a:r>
              <a:rPr lang="en-US" sz="1200" b="true">
                <a:solidFill>
                  <a:srgbClr val="000000"/>
                </a:solidFill>
                <a:latin typeface="Open Sans Bold"/>
                <a:ea typeface="Open Sans Bold"/>
                <a:cs typeface="Open Sans Bold"/>
                <a:sym typeface="Open Sans Bold"/>
              </a:rPr>
              <a:t>USER:</a:t>
            </a:r>
          </a:p>
          <a:p>
            <a:pPr algn="ctr">
              <a:lnSpc>
                <a:spcPts val="1680"/>
              </a:lnSpc>
            </a:pPr>
            <a:r>
              <a:rPr lang="en-US" sz="1200">
                <a:solidFill>
                  <a:srgbClr val="000000"/>
                </a:solidFill>
                <a:latin typeface="Open Sans"/>
                <a:ea typeface="Open Sans"/>
                <a:cs typeface="Open Sans"/>
                <a:sym typeface="Open Sans"/>
              </a:rPr>
              <a:t>(Consumer,</a:t>
            </a:r>
          </a:p>
          <a:p>
            <a:pPr algn="ctr">
              <a:lnSpc>
                <a:spcPts val="1680"/>
              </a:lnSpc>
            </a:pPr>
            <a:r>
              <a:rPr lang="en-US" sz="1200">
                <a:solidFill>
                  <a:srgbClr val="000000"/>
                </a:solidFill>
                <a:latin typeface="Open Sans"/>
                <a:ea typeface="Open Sans"/>
                <a:cs typeface="Open Sans"/>
                <a:sym typeface="Open Sans"/>
              </a:rPr>
              <a:t>Seller,</a:t>
            </a:r>
          </a:p>
          <a:p>
            <a:pPr algn="ctr">
              <a:lnSpc>
                <a:spcPts val="1680"/>
              </a:lnSpc>
              <a:spcBef>
                <a:spcPct val="0"/>
              </a:spcBef>
            </a:pPr>
            <a:r>
              <a:rPr lang="en-US" sz="1200">
                <a:solidFill>
                  <a:srgbClr val="000000"/>
                </a:solidFill>
                <a:latin typeface="Open Sans"/>
                <a:ea typeface="Open Sans"/>
                <a:cs typeface="Open Sans"/>
                <a:sym typeface="Open Sans"/>
              </a:rPr>
              <a:t>NGO, Food Inspector</a:t>
            </a:r>
            <a:r>
              <a:rPr lang="en-US" sz="1200">
                <a:solidFill>
                  <a:srgbClr val="000000"/>
                </a:solidFill>
                <a:latin typeface="Open Sans"/>
                <a:ea typeface="Open Sans"/>
                <a:cs typeface="Open Sans"/>
                <a:sym typeface="Open Sans"/>
              </a:rPr>
              <a:t>)</a:t>
            </a:r>
          </a:p>
        </p:txBody>
      </p:sp>
      <p:sp>
        <p:nvSpPr>
          <p:cNvPr name="TextBox 72" id="72"/>
          <p:cNvSpPr txBox="true"/>
          <p:nvPr/>
        </p:nvSpPr>
        <p:spPr>
          <a:xfrm rot="0">
            <a:off x="11839941" y="1212942"/>
            <a:ext cx="2382711" cy="1542657"/>
          </a:xfrm>
          <a:prstGeom prst="rect">
            <a:avLst/>
          </a:prstGeom>
        </p:spPr>
        <p:txBody>
          <a:bodyPr anchor="t" rtlCol="false" tIns="0" lIns="0" bIns="0" rIns="0">
            <a:spAutoFit/>
          </a:bodyPr>
          <a:lstStyle/>
          <a:p>
            <a:pPr algn="ctr">
              <a:lnSpc>
                <a:spcPts val="1773"/>
              </a:lnSpc>
              <a:spcBef>
                <a:spcPct val="0"/>
              </a:spcBef>
            </a:pPr>
            <a:r>
              <a:rPr lang="en-US" b="true" sz="1266">
                <a:solidFill>
                  <a:srgbClr val="000000"/>
                </a:solidFill>
                <a:latin typeface="Open Sans Bold"/>
                <a:ea typeface="Open Sans Bold"/>
                <a:cs typeface="Open Sans Bold"/>
                <a:sym typeface="Open Sans Bold"/>
              </a:rPr>
              <a:t>Food Inspector </a:t>
            </a:r>
            <a:r>
              <a:rPr lang="en-US" b="true" sz="1266">
                <a:solidFill>
                  <a:srgbClr val="000000"/>
                </a:solidFill>
                <a:latin typeface="Open Sans Bold"/>
                <a:ea typeface="Open Sans Bold"/>
                <a:cs typeface="Open Sans Bold"/>
                <a:sym typeface="Open Sans Bold"/>
              </a:rPr>
              <a:t>Module</a:t>
            </a:r>
          </a:p>
          <a:p>
            <a:pPr algn="just" marL="273453" indent="-136727" lvl="1">
              <a:lnSpc>
                <a:spcPts val="1773"/>
              </a:lnSpc>
              <a:buFont typeface="Arial"/>
              <a:buChar char="•"/>
            </a:pPr>
            <a:r>
              <a:rPr lang="en-US" sz="1266">
                <a:solidFill>
                  <a:srgbClr val="000000"/>
                </a:solidFill>
                <a:latin typeface="Open Sans"/>
                <a:ea typeface="Open Sans"/>
                <a:cs typeface="Open Sans"/>
                <a:sym typeface="Open Sans"/>
              </a:rPr>
              <a:t>Dashboard</a:t>
            </a:r>
          </a:p>
          <a:p>
            <a:pPr algn="just" marL="273453" indent="-136727" lvl="1">
              <a:lnSpc>
                <a:spcPts val="1773"/>
              </a:lnSpc>
              <a:buFont typeface="Arial"/>
              <a:buChar char="•"/>
            </a:pPr>
            <a:r>
              <a:rPr lang="en-US" sz="1266">
                <a:solidFill>
                  <a:srgbClr val="000000"/>
                </a:solidFill>
                <a:latin typeface="Open Sans"/>
                <a:ea typeface="Open Sans"/>
                <a:cs typeface="Open Sans"/>
                <a:sym typeface="Open Sans"/>
              </a:rPr>
              <a:t>Platform Analytics</a:t>
            </a:r>
          </a:p>
          <a:p>
            <a:pPr algn="just" marL="273453" indent="-136727" lvl="1">
              <a:lnSpc>
                <a:spcPts val="1773"/>
              </a:lnSpc>
              <a:buFont typeface="Arial"/>
              <a:buChar char="•"/>
            </a:pPr>
            <a:r>
              <a:rPr lang="en-US" sz="1266">
                <a:solidFill>
                  <a:srgbClr val="000000"/>
                </a:solidFill>
                <a:latin typeface="Open Sans"/>
                <a:ea typeface="Open Sans"/>
                <a:cs typeface="Open Sans"/>
                <a:sym typeface="Open Sans"/>
              </a:rPr>
              <a:t>Sustainability Reports</a:t>
            </a:r>
          </a:p>
          <a:p>
            <a:pPr algn="just" marL="273453" indent="-136727" lvl="1">
              <a:lnSpc>
                <a:spcPts val="1773"/>
              </a:lnSpc>
              <a:buFont typeface="Arial"/>
              <a:buChar char="•"/>
            </a:pPr>
            <a:r>
              <a:rPr lang="en-US" sz="1266">
                <a:solidFill>
                  <a:srgbClr val="000000"/>
                </a:solidFill>
                <a:latin typeface="Open Sans"/>
                <a:ea typeface="Open Sans"/>
                <a:cs typeface="Open Sans"/>
                <a:sym typeface="Open Sans"/>
              </a:rPr>
              <a:t>User &amp; Seller Management</a:t>
            </a:r>
          </a:p>
          <a:p>
            <a:pPr algn="just">
              <a:lnSpc>
                <a:spcPts val="1773"/>
              </a:lnSpc>
            </a:pPr>
          </a:p>
          <a:p>
            <a:pPr algn="just">
              <a:lnSpc>
                <a:spcPts val="1773"/>
              </a:lnSpc>
            </a:pPr>
          </a:p>
        </p:txBody>
      </p:sp>
      <p:sp>
        <p:nvSpPr>
          <p:cNvPr name="TextBox 73" id="73"/>
          <p:cNvSpPr txBox="true"/>
          <p:nvPr/>
        </p:nvSpPr>
        <p:spPr>
          <a:xfrm rot="0">
            <a:off x="5136860" y="354478"/>
            <a:ext cx="2480443" cy="312428"/>
          </a:xfrm>
          <a:prstGeom prst="rect">
            <a:avLst/>
          </a:prstGeom>
        </p:spPr>
        <p:txBody>
          <a:bodyPr anchor="t" rtlCol="false" tIns="0" lIns="0" bIns="0" rIns="0">
            <a:spAutoFit/>
          </a:bodyPr>
          <a:lstStyle/>
          <a:p>
            <a:pPr algn="ctr">
              <a:lnSpc>
                <a:spcPts val="2360"/>
              </a:lnSpc>
              <a:spcBef>
                <a:spcPct val="0"/>
              </a:spcBef>
            </a:pPr>
            <a:r>
              <a:rPr lang="en-US" b="true" sz="1686">
                <a:solidFill>
                  <a:srgbClr val="000000"/>
                </a:solidFill>
                <a:latin typeface="Poppins Bold"/>
                <a:ea typeface="Poppins Bold"/>
                <a:cs typeface="Poppins Bold"/>
                <a:sym typeface="Poppins Bold"/>
              </a:rPr>
              <a:t>Web</a:t>
            </a:r>
            <a:r>
              <a:rPr lang="en-US" b="true" sz="1686">
                <a:solidFill>
                  <a:srgbClr val="000000"/>
                </a:solidFill>
                <a:latin typeface="Poppins Bold"/>
                <a:ea typeface="Poppins Bold"/>
                <a:cs typeface="Poppins Bold"/>
                <a:sym typeface="Poppins Bold"/>
              </a:rPr>
              <a:t> Application Layer</a:t>
            </a:r>
          </a:p>
        </p:txBody>
      </p:sp>
      <p:sp>
        <p:nvSpPr>
          <p:cNvPr name="TextBox 74" id="74"/>
          <p:cNvSpPr txBox="true"/>
          <p:nvPr/>
        </p:nvSpPr>
        <p:spPr>
          <a:xfrm rot="0">
            <a:off x="4205297" y="1128869"/>
            <a:ext cx="2126094" cy="1566421"/>
          </a:xfrm>
          <a:prstGeom prst="rect">
            <a:avLst/>
          </a:prstGeom>
        </p:spPr>
        <p:txBody>
          <a:bodyPr anchor="t" rtlCol="false" tIns="0" lIns="0" bIns="0" rIns="0">
            <a:spAutoFit/>
          </a:bodyPr>
          <a:lstStyle/>
          <a:p>
            <a:pPr algn="ctr">
              <a:lnSpc>
                <a:spcPts val="1761"/>
              </a:lnSpc>
              <a:spcBef>
                <a:spcPct val="0"/>
              </a:spcBef>
            </a:pPr>
            <a:r>
              <a:rPr lang="en-US" b="true" sz="1258">
                <a:solidFill>
                  <a:srgbClr val="000000"/>
                </a:solidFill>
                <a:latin typeface="Open Sans Bold"/>
                <a:ea typeface="Open Sans Bold"/>
                <a:cs typeface="Open Sans Bold"/>
                <a:sym typeface="Open Sans Bold"/>
              </a:rPr>
              <a:t>Consumer Module</a:t>
            </a:r>
          </a:p>
          <a:p>
            <a:pPr algn="l" marL="235786" indent="-117893" lvl="1">
              <a:lnSpc>
                <a:spcPts val="1528"/>
              </a:lnSpc>
              <a:buFont typeface="Arial"/>
              <a:buChar char="•"/>
            </a:pPr>
            <a:r>
              <a:rPr lang="en-US" sz="1092">
                <a:solidFill>
                  <a:srgbClr val="000000"/>
                </a:solidFill>
                <a:latin typeface="Open Sans"/>
                <a:ea typeface="Open Sans"/>
                <a:cs typeface="Open Sans"/>
                <a:sym typeface="Open Sans"/>
              </a:rPr>
              <a:t>C</a:t>
            </a:r>
            <a:r>
              <a:rPr lang="en-US" sz="1092">
                <a:solidFill>
                  <a:srgbClr val="000000"/>
                </a:solidFill>
                <a:latin typeface="Open Sans"/>
                <a:ea typeface="Open Sans"/>
                <a:cs typeface="Open Sans"/>
                <a:sym typeface="Open Sans"/>
              </a:rPr>
              <a:t>onsumer Marketplace View</a:t>
            </a:r>
          </a:p>
          <a:p>
            <a:pPr algn="l" marL="235786" indent="-117893" lvl="1">
              <a:lnSpc>
                <a:spcPts val="1528"/>
              </a:lnSpc>
              <a:buFont typeface="Arial"/>
              <a:buChar char="•"/>
            </a:pPr>
            <a:r>
              <a:rPr lang="en-US" sz="1092">
                <a:solidFill>
                  <a:srgbClr val="000000"/>
                </a:solidFill>
                <a:latin typeface="Open Sans"/>
                <a:ea typeface="Open Sans"/>
                <a:cs typeface="Open Sans"/>
                <a:sym typeface="Open Sans"/>
              </a:rPr>
              <a:t>Smart Food Search (AI)</a:t>
            </a:r>
          </a:p>
          <a:p>
            <a:pPr algn="l" marL="235786" indent="-117893" lvl="1">
              <a:lnSpc>
                <a:spcPts val="1528"/>
              </a:lnSpc>
              <a:buFont typeface="Arial"/>
              <a:buChar char="•"/>
            </a:pPr>
            <a:r>
              <a:rPr lang="en-US" sz="1092">
                <a:solidFill>
                  <a:srgbClr val="000000"/>
                </a:solidFill>
                <a:latin typeface="Open Sans"/>
                <a:ea typeface="Open Sans"/>
                <a:cs typeface="Open Sans"/>
                <a:sym typeface="Open Sans"/>
              </a:rPr>
              <a:t>Food Detail Page</a:t>
            </a:r>
          </a:p>
          <a:p>
            <a:pPr algn="l" marL="235786" indent="-117893" lvl="1">
              <a:lnSpc>
                <a:spcPts val="1528"/>
              </a:lnSpc>
              <a:buFont typeface="Arial"/>
              <a:buChar char="•"/>
            </a:pPr>
            <a:r>
              <a:rPr lang="en-US" sz="1092">
                <a:solidFill>
                  <a:srgbClr val="000000"/>
                </a:solidFill>
                <a:latin typeface="Open Sans"/>
                <a:ea typeface="Open Sans"/>
                <a:cs typeface="Open Sans"/>
                <a:sym typeface="Open Sans"/>
              </a:rPr>
              <a:t>QR Code Pickup View</a:t>
            </a:r>
          </a:p>
          <a:p>
            <a:pPr algn="l" marL="235786" indent="-117893" lvl="1">
              <a:lnSpc>
                <a:spcPts val="1528"/>
              </a:lnSpc>
              <a:buFont typeface="Arial"/>
              <a:buChar char="•"/>
            </a:pPr>
            <a:r>
              <a:rPr lang="en-US" sz="1092">
                <a:solidFill>
                  <a:srgbClr val="000000"/>
                </a:solidFill>
                <a:latin typeface="Open Sans"/>
                <a:ea typeface="Open Sans"/>
                <a:cs typeface="Open Sans"/>
                <a:sym typeface="Open Sans"/>
              </a:rPr>
              <a:t>Order Tracking</a:t>
            </a:r>
          </a:p>
          <a:p>
            <a:pPr algn="l" marL="235786" indent="-117893" lvl="1">
              <a:lnSpc>
                <a:spcPts val="1528"/>
              </a:lnSpc>
              <a:buFont typeface="Arial"/>
              <a:buChar char="•"/>
            </a:pPr>
            <a:r>
              <a:rPr lang="en-US" sz="1092">
                <a:solidFill>
                  <a:srgbClr val="000000"/>
                </a:solidFill>
                <a:latin typeface="Open Sans"/>
                <a:ea typeface="Open Sans"/>
                <a:cs typeface="Open Sans"/>
                <a:sym typeface="Open Sans"/>
              </a:rPr>
              <a:t>Sustainability Impact Dashboard</a:t>
            </a:r>
          </a:p>
        </p:txBody>
      </p:sp>
      <p:sp>
        <p:nvSpPr>
          <p:cNvPr name="TextBox 75" id="75"/>
          <p:cNvSpPr txBox="true"/>
          <p:nvPr/>
        </p:nvSpPr>
        <p:spPr>
          <a:xfrm rot="0">
            <a:off x="9033965" y="1128869"/>
            <a:ext cx="2221837" cy="1959044"/>
          </a:xfrm>
          <a:prstGeom prst="rect">
            <a:avLst/>
          </a:prstGeom>
        </p:spPr>
        <p:txBody>
          <a:bodyPr anchor="t" rtlCol="false" tIns="0" lIns="0" bIns="0" rIns="0">
            <a:spAutoFit/>
          </a:bodyPr>
          <a:lstStyle/>
          <a:p>
            <a:pPr algn="ctr">
              <a:lnSpc>
                <a:spcPts val="1750"/>
              </a:lnSpc>
              <a:spcBef>
                <a:spcPct val="0"/>
              </a:spcBef>
            </a:pPr>
            <a:r>
              <a:rPr lang="en-US" b="true" sz="1250">
                <a:solidFill>
                  <a:srgbClr val="000000"/>
                </a:solidFill>
                <a:latin typeface="Open Sans Bold"/>
                <a:ea typeface="Open Sans Bold"/>
                <a:cs typeface="Open Sans Bold"/>
                <a:sym typeface="Open Sans Bold"/>
              </a:rPr>
              <a:t>NGO</a:t>
            </a:r>
            <a:r>
              <a:rPr lang="en-US" b="true" sz="1250">
                <a:solidFill>
                  <a:srgbClr val="000000"/>
                </a:solidFill>
                <a:latin typeface="Open Sans Bold"/>
                <a:ea typeface="Open Sans Bold"/>
                <a:cs typeface="Open Sans Bold"/>
                <a:sym typeface="Open Sans Bold"/>
              </a:rPr>
              <a:t> Module</a:t>
            </a:r>
          </a:p>
          <a:p>
            <a:pPr algn="l" marL="269902" indent="-134951" lvl="1">
              <a:lnSpc>
                <a:spcPts val="1750"/>
              </a:lnSpc>
              <a:buFont typeface="Arial"/>
              <a:buChar char="•"/>
            </a:pPr>
            <a:r>
              <a:rPr lang="en-US" sz="1250">
                <a:solidFill>
                  <a:srgbClr val="000000"/>
                </a:solidFill>
                <a:latin typeface="Open Sans"/>
                <a:ea typeface="Open Sans"/>
                <a:cs typeface="Open Sans"/>
                <a:sym typeface="Open Sans"/>
              </a:rPr>
              <a:t>NG</a:t>
            </a:r>
            <a:r>
              <a:rPr lang="en-US" sz="1250">
                <a:solidFill>
                  <a:srgbClr val="000000"/>
                </a:solidFill>
                <a:latin typeface="Open Sans"/>
                <a:ea typeface="Open Sans"/>
                <a:cs typeface="Open Sans"/>
                <a:sym typeface="Open Sans"/>
              </a:rPr>
              <a:t>O D</a:t>
            </a:r>
            <a:r>
              <a:rPr lang="en-US" sz="1250">
                <a:solidFill>
                  <a:srgbClr val="000000"/>
                </a:solidFill>
                <a:latin typeface="Open Sans"/>
                <a:ea typeface="Open Sans"/>
                <a:cs typeface="Open Sans"/>
                <a:sym typeface="Open Sans"/>
              </a:rPr>
              <a:t>ashboard</a:t>
            </a:r>
          </a:p>
          <a:p>
            <a:pPr algn="l" marL="269902" indent="-134951" lvl="1">
              <a:lnSpc>
                <a:spcPts val="1750"/>
              </a:lnSpc>
              <a:buFont typeface="Arial"/>
              <a:buChar char="•"/>
            </a:pPr>
            <a:r>
              <a:rPr lang="en-US" sz="1250">
                <a:solidFill>
                  <a:srgbClr val="000000"/>
                </a:solidFill>
                <a:latin typeface="Open Sans"/>
                <a:ea typeface="Open Sans"/>
                <a:cs typeface="Open Sans"/>
                <a:sym typeface="Open Sans"/>
              </a:rPr>
              <a:t>Nearby Surplus Food Discovery</a:t>
            </a:r>
          </a:p>
          <a:p>
            <a:pPr algn="l" marL="269902" indent="-134951" lvl="1">
              <a:lnSpc>
                <a:spcPts val="1750"/>
              </a:lnSpc>
              <a:buFont typeface="Arial"/>
              <a:buChar char="•"/>
            </a:pPr>
            <a:r>
              <a:rPr lang="en-US" sz="1250">
                <a:solidFill>
                  <a:srgbClr val="000000"/>
                </a:solidFill>
                <a:latin typeface="Open Sans"/>
                <a:ea typeface="Open Sans"/>
                <a:cs typeface="Open Sans"/>
                <a:sym typeface="Open Sans"/>
              </a:rPr>
              <a:t>Event Food Pickup Requests</a:t>
            </a:r>
          </a:p>
          <a:p>
            <a:pPr algn="l" marL="269902" indent="-134951" lvl="1">
              <a:lnSpc>
                <a:spcPts val="1750"/>
              </a:lnSpc>
              <a:buFont typeface="Arial"/>
              <a:buChar char="•"/>
            </a:pPr>
            <a:r>
              <a:rPr lang="en-US" sz="1250">
                <a:solidFill>
                  <a:srgbClr val="000000"/>
                </a:solidFill>
                <a:latin typeface="Open Sans"/>
                <a:ea typeface="Open Sans"/>
                <a:cs typeface="Open Sans"/>
                <a:sym typeface="Open Sans"/>
              </a:rPr>
              <a:t>Pickup Management</a:t>
            </a:r>
          </a:p>
          <a:p>
            <a:pPr algn="l">
              <a:lnSpc>
                <a:spcPts val="1750"/>
              </a:lnSpc>
            </a:pPr>
          </a:p>
          <a:p>
            <a:pPr algn="l">
              <a:lnSpc>
                <a:spcPts val="1750"/>
              </a:lnSpc>
            </a:pPr>
          </a:p>
        </p:txBody>
      </p:sp>
      <p:sp>
        <p:nvSpPr>
          <p:cNvPr name="TextBox 76" id="76"/>
          <p:cNvSpPr txBox="true"/>
          <p:nvPr/>
        </p:nvSpPr>
        <p:spPr>
          <a:xfrm rot="0">
            <a:off x="5079457" y="661563"/>
            <a:ext cx="2618569" cy="166173"/>
          </a:xfrm>
          <a:prstGeom prst="rect">
            <a:avLst/>
          </a:prstGeom>
        </p:spPr>
        <p:txBody>
          <a:bodyPr anchor="t" rtlCol="false" tIns="0" lIns="0" bIns="0" rIns="0">
            <a:spAutoFit/>
          </a:bodyPr>
          <a:lstStyle/>
          <a:p>
            <a:pPr algn="ctr">
              <a:lnSpc>
                <a:spcPts val="1367"/>
              </a:lnSpc>
              <a:spcBef>
                <a:spcPct val="0"/>
              </a:spcBef>
            </a:pPr>
            <a:r>
              <a:rPr lang="en-US" sz="976">
                <a:solidFill>
                  <a:srgbClr val="000000"/>
                </a:solidFill>
                <a:latin typeface="Open Sans"/>
                <a:ea typeface="Open Sans"/>
                <a:cs typeface="Open Sans"/>
                <a:sym typeface="Open Sans"/>
              </a:rPr>
              <a:t>(Frontend – React + TypeScript + TailwindCSS)</a:t>
            </a:r>
          </a:p>
        </p:txBody>
      </p:sp>
      <p:sp>
        <p:nvSpPr>
          <p:cNvPr name="TextBox 77" id="77"/>
          <p:cNvSpPr txBox="true"/>
          <p:nvPr/>
        </p:nvSpPr>
        <p:spPr>
          <a:xfrm rot="0">
            <a:off x="6627919" y="1141990"/>
            <a:ext cx="2205078" cy="1558474"/>
          </a:xfrm>
          <a:prstGeom prst="rect">
            <a:avLst/>
          </a:prstGeom>
        </p:spPr>
        <p:txBody>
          <a:bodyPr anchor="t" rtlCol="false" tIns="0" lIns="0" bIns="0" rIns="0">
            <a:spAutoFit/>
          </a:bodyPr>
          <a:lstStyle/>
          <a:p>
            <a:pPr algn="ctr">
              <a:lnSpc>
                <a:spcPts val="1791"/>
              </a:lnSpc>
              <a:spcBef>
                <a:spcPct val="0"/>
              </a:spcBef>
            </a:pPr>
            <a:r>
              <a:rPr lang="en-US" b="true" sz="1279">
                <a:solidFill>
                  <a:srgbClr val="000000"/>
                </a:solidFill>
                <a:latin typeface="Open Sans Bold"/>
                <a:ea typeface="Open Sans Bold"/>
                <a:cs typeface="Open Sans Bold"/>
                <a:sym typeface="Open Sans Bold"/>
              </a:rPr>
              <a:t>Sell</a:t>
            </a:r>
            <a:r>
              <a:rPr lang="en-US" b="true" sz="1279">
                <a:solidFill>
                  <a:srgbClr val="000000"/>
                </a:solidFill>
                <a:latin typeface="Open Sans Bold"/>
                <a:ea typeface="Open Sans Bold"/>
                <a:cs typeface="Open Sans Bold"/>
                <a:sym typeface="Open Sans Bold"/>
              </a:rPr>
              <a:t>er Module</a:t>
            </a:r>
          </a:p>
          <a:p>
            <a:pPr algn="l">
              <a:lnSpc>
                <a:spcPts val="1791"/>
              </a:lnSpc>
              <a:spcBef>
                <a:spcPct val="0"/>
              </a:spcBef>
            </a:pPr>
            <a:r>
              <a:rPr lang="en-US" sz="1279">
                <a:solidFill>
                  <a:srgbClr val="000000"/>
                </a:solidFill>
                <a:latin typeface="Open Sans"/>
                <a:ea typeface="Open Sans"/>
                <a:cs typeface="Open Sans"/>
                <a:sym typeface="Open Sans"/>
              </a:rPr>
              <a:t>• Seller Dashboard</a:t>
            </a:r>
          </a:p>
          <a:p>
            <a:pPr algn="l">
              <a:lnSpc>
                <a:spcPts val="1791"/>
              </a:lnSpc>
              <a:spcBef>
                <a:spcPct val="0"/>
              </a:spcBef>
            </a:pPr>
            <a:r>
              <a:rPr lang="en-US" sz="1279">
                <a:solidFill>
                  <a:srgbClr val="000000"/>
                </a:solidFill>
                <a:latin typeface="Open Sans"/>
                <a:ea typeface="Open Sans"/>
                <a:cs typeface="Open Sans"/>
                <a:sym typeface="Open Sans"/>
              </a:rPr>
              <a:t>• Surplus Food Listing Interface</a:t>
            </a:r>
          </a:p>
          <a:p>
            <a:pPr algn="l">
              <a:lnSpc>
                <a:spcPts val="1791"/>
              </a:lnSpc>
              <a:spcBef>
                <a:spcPct val="0"/>
              </a:spcBef>
            </a:pPr>
            <a:r>
              <a:rPr lang="en-US" sz="1279">
                <a:solidFill>
                  <a:srgbClr val="000000"/>
                </a:solidFill>
                <a:latin typeface="Open Sans"/>
                <a:ea typeface="Open Sans"/>
                <a:cs typeface="Open Sans"/>
                <a:sym typeface="Open Sans"/>
              </a:rPr>
              <a:t>• Inventory Management</a:t>
            </a:r>
          </a:p>
          <a:p>
            <a:pPr algn="l">
              <a:lnSpc>
                <a:spcPts val="1791"/>
              </a:lnSpc>
              <a:spcBef>
                <a:spcPct val="0"/>
              </a:spcBef>
            </a:pPr>
            <a:r>
              <a:rPr lang="en-US" sz="1279">
                <a:solidFill>
                  <a:srgbClr val="000000"/>
                </a:solidFill>
                <a:latin typeface="Open Sans"/>
                <a:ea typeface="Open Sans"/>
                <a:cs typeface="Open Sans"/>
                <a:sym typeface="Open Sans"/>
              </a:rPr>
              <a:t>• AI Discount Suggestions</a:t>
            </a:r>
          </a:p>
          <a:p>
            <a:pPr algn="l">
              <a:lnSpc>
                <a:spcPts val="1791"/>
              </a:lnSpc>
            </a:pPr>
            <a:r>
              <a:rPr lang="en-US" sz="1279">
                <a:solidFill>
                  <a:srgbClr val="000000"/>
                </a:solidFill>
                <a:latin typeface="Open Sans"/>
                <a:ea typeface="Open Sans"/>
                <a:cs typeface="Open Sans"/>
                <a:sym typeface="Open Sans"/>
              </a:rPr>
              <a:t>• Sales Analytics</a:t>
            </a:r>
          </a:p>
        </p:txBody>
      </p:sp>
      <p:sp>
        <p:nvSpPr>
          <p:cNvPr name="TextBox 78" id="78"/>
          <p:cNvSpPr txBox="true"/>
          <p:nvPr/>
        </p:nvSpPr>
        <p:spPr>
          <a:xfrm rot="0">
            <a:off x="14451902" y="3406773"/>
            <a:ext cx="3125332" cy="288253"/>
          </a:xfrm>
          <a:prstGeom prst="rect">
            <a:avLst/>
          </a:prstGeom>
        </p:spPr>
        <p:txBody>
          <a:bodyPr anchor="t" rtlCol="false" tIns="0" lIns="0" bIns="0" rIns="0">
            <a:spAutoFit/>
          </a:bodyPr>
          <a:lstStyle/>
          <a:p>
            <a:pPr algn="ctr" marL="0" indent="0" lvl="0">
              <a:lnSpc>
                <a:spcPts val="2237"/>
              </a:lnSpc>
              <a:spcBef>
                <a:spcPct val="0"/>
              </a:spcBef>
            </a:pPr>
            <a:r>
              <a:rPr lang="en-US" b="true" sz="1598">
                <a:solidFill>
                  <a:srgbClr val="000000"/>
                </a:solidFill>
                <a:latin typeface="Poppins Bold"/>
                <a:ea typeface="Poppins Bold"/>
                <a:cs typeface="Poppins Bold"/>
                <a:sym typeface="Poppins Bold"/>
              </a:rPr>
              <a:t>Ba</a:t>
            </a:r>
            <a:r>
              <a:rPr lang="en-US" b="true" sz="1598" strike="noStrike" u="none">
                <a:solidFill>
                  <a:srgbClr val="000000"/>
                </a:solidFill>
                <a:latin typeface="Poppins Bold"/>
                <a:ea typeface="Poppins Bold"/>
                <a:cs typeface="Poppins Bold"/>
                <a:sym typeface="Poppins Bold"/>
              </a:rPr>
              <a:t>c</a:t>
            </a:r>
            <a:r>
              <a:rPr lang="en-US" b="true" sz="1598" strike="noStrike" u="none">
                <a:solidFill>
                  <a:srgbClr val="000000"/>
                </a:solidFill>
                <a:latin typeface="Poppins Bold"/>
                <a:ea typeface="Poppins Bold"/>
                <a:cs typeface="Poppins Bold"/>
                <a:sym typeface="Poppins Bold"/>
              </a:rPr>
              <a:t>k</a:t>
            </a:r>
            <a:r>
              <a:rPr lang="en-US" b="true" sz="1598" strike="noStrike" u="none">
                <a:solidFill>
                  <a:srgbClr val="000000"/>
                </a:solidFill>
                <a:latin typeface="Poppins Bold"/>
                <a:ea typeface="Poppins Bold"/>
                <a:cs typeface="Poppins Bold"/>
                <a:sym typeface="Poppins Bold"/>
              </a:rPr>
              <a:t>en</a:t>
            </a:r>
            <a:r>
              <a:rPr lang="en-US" b="true" sz="1598" strike="noStrike" u="none">
                <a:solidFill>
                  <a:srgbClr val="000000"/>
                </a:solidFill>
                <a:latin typeface="Poppins Bold"/>
                <a:ea typeface="Poppins Bold"/>
                <a:cs typeface="Poppins Bold"/>
                <a:sym typeface="Poppins Bold"/>
              </a:rPr>
              <a:t>d</a:t>
            </a:r>
            <a:r>
              <a:rPr lang="en-US" b="true" sz="1598" strike="noStrike" u="none">
                <a:solidFill>
                  <a:srgbClr val="000000"/>
                </a:solidFill>
                <a:latin typeface="Poppins Bold"/>
                <a:ea typeface="Poppins Bold"/>
                <a:cs typeface="Poppins Bold"/>
                <a:sym typeface="Poppins Bold"/>
              </a:rPr>
              <a:t> – Application</a:t>
            </a:r>
            <a:r>
              <a:rPr lang="en-US" b="true" sz="1598" strike="noStrike" u="none">
                <a:solidFill>
                  <a:srgbClr val="000000"/>
                </a:solidFill>
                <a:latin typeface="Poppins Bold"/>
                <a:ea typeface="Poppins Bold"/>
                <a:cs typeface="Poppins Bold"/>
                <a:sym typeface="Poppins Bold"/>
              </a:rPr>
              <a:t> Lay</a:t>
            </a:r>
            <a:r>
              <a:rPr lang="en-US" b="true" sz="1598" strike="noStrike" u="none">
                <a:solidFill>
                  <a:srgbClr val="000000"/>
                </a:solidFill>
                <a:latin typeface="Poppins Bold"/>
                <a:ea typeface="Poppins Bold"/>
                <a:cs typeface="Poppins Bold"/>
                <a:sym typeface="Poppins Bold"/>
              </a:rPr>
              <a:t>er</a:t>
            </a:r>
          </a:p>
        </p:txBody>
      </p:sp>
      <p:sp>
        <p:nvSpPr>
          <p:cNvPr name="TextBox 79" id="79"/>
          <p:cNvSpPr txBox="true"/>
          <p:nvPr/>
        </p:nvSpPr>
        <p:spPr>
          <a:xfrm rot="0">
            <a:off x="15566469" y="3683037"/>
            <a:ext cx="671955" cy="228048"/>
          </a:xfrm>
          <a:prstGeom prst="rect">
            <a:avLst/>
          </a:prstGeom>
        </p:spPr>
        <p:txBody>
          <a:bodyPr anchor="t" rtlCol="false" tIns="0" lIns="0" bIns="0" rIns="0">
            <a:spAutoFit/>
          </a:bodyPr>
          <a:lstStyle/>
          <a:p>
            <a:pPr algn="ctr">
              <a:lnSpc>
                <a:spcPts val="1848"/>
              </a:lnSpc>
              <a:spcBef>
                <a:spcPct val="0"/>
              </a:spcBef>
            </a:pPr>
            <a:r>
              <a:rPr lang="en-US" sz="1320">
                <a:solidFill>
                  <a:srgbClr val="000000"/>
                </a:solidFill>
                <a:latin typeface="Open Sans"/>
                <a:ea typeface="Open Sans"/>
                <a:cs typeface="Open Sans"/>
                <a:sym typeface="Open Sans"/>
              </a:rPr>
              <a:t>(FastAPI)</a:t>
            </a:r>
          </a:p>
        </p:txBody>
      </p:sp>
      <p:sp>
        <p:nvSpPr>
          <p:cNvPr name="TextBox 80" id="80"/>
          <p:cNvSpPr txBox="true"/>
          <p:nvPr/>
        </p:nvSpPr>
        <p:spPr>
          <a:xfrm rot="0">
            <a:off x="14135341" y="7730670"/>
            <a:ext cx="2794670" cy="1340144"/>
          </a:xfrm>
          <a:prstGeom prst="rect">
            <a:avLst/>
          </a:prstGeom>
        </p:spPr>
        <p:txBody>
          <a:bodyPr anchor="t" rtlCol="false" tIns="0" lIns="0" bIns="0" rIns="0">
            <a:spAutoFit/>
          </a:bodyPr>
          <a:lstStyle/>
          <a:p>
            <a:pPr algn="ctr">
              <a:lnSpc>
                <a:spcPts val="1773"/>
              </a:lnSpc>
              <a:spcBef>
                <a:spcPct val="0"/>
              </a:spcBef>
            </a:pPr>
            <a:r>
              <a:rPr lang="en-US" b="true" sz="1266">
                <a:solidFill>
                  <a:srgbClr val="000000"/>
                </a:solidFill>
                <a:latin typeface="Open Sans Bold"/>
                <a:ea typeface="Open Sans Bold"/>
                <a:cs typeface="Open Sans Bold"/>
                <a:sym typeface="Open Sans Bold"/>
              </a:rPr>
              <a:t>Platform Serv</a:t>
            </a:r>
            <a:r>
              <a:rPr lang="en-US" b="true" sz="1266">
                <a:solidFill>
                  <a:srgbClr val="000000"/>
                </a:solidFill>
                <a:latin typeface="Open Sans Bold"/>
                <a:ea typeface="Open Sans Bold"/>
                <a:cs typeface="Open Sans Bold"/>
                <a:sym typeface="Open Sans Bold"/>
              </a:rPr>
              <a:t>ices</a:t>
            </a:r>
          </a:p>
          <a:p>
            <a:pPr algn="just" marL="273454" indent="-136727" lvl="1">
              <a:lnSpc>
                <a:spcPts val="1773"/>
              </a:lnSpc>
              <a:buFont typeface="Arial"/>
              <a:buChar char="•"/>
            </a:pPr>
            <a:r>
              <a:rPr lang="en-US" sz="1266">
                <a:solidFill>
                  <a:srgbClr val="000000"/>
                </a:solidFill>
                <a:latin typeface="Open Sans"/>
                <a:ea typeface="Open Sans"/>
                <a:cs typeface="Open Sans"/>
                <a:sym typeface="Open Sans"/>
              </a:rPr>
              <a:t>Carbon Impact Calculation</a:t>
            </a:r>
          </a:p>
          <a:p>
            <a:pPr algn="just" marL="273454" indent="-136727" lvl="1">
              <a:lnSpc>
                <a:spcPts val="1773"/>
              </a:lnSpc>
              <a:buFont typeface="Arial"/>
              <a:buChar char="•"/>
            </a:pPr>
            <a:r>
              <a:rPr lang="en-US" sz="1266">
                <a:solidFill>
                  <a:srgbClr val="000000"/>
                </a:solidFill>
                <a:latin typeface="Open Sans"/>
                <a:ea typeface="Open Sans"/>
                <a:cs typeface="Open Sans"/>
                <a:sym typeface="Open Sans"/>
              </a:rPr>
              <a:t>Location Filtering Service</a:t>
            </a:r>
          </a:p>
          <a:p>
            <a:pPr algn="just" marL="273454" indent="-136727" lvl="1">
              <a:lnSpc>
                <a:spcPts val="1773"/>
              </a:lnSpc>
              <a:buFont typeface="Arial"/>
              <a:buChar char="•"/>
            </a:pPr>
            <a:r>
              <a:rPr lang="en-US" sz="1266">
                <a:solidFill>
                  <a:srgbClr val="000000"/>
                </a:solidFill>
                <a:latin typeface="Open Sans"/>
                <a:ea typeface="Open Sans"/>
                <a:cs typeface="Open Sans"/>
                <a:sym typeface="Open Sans"/>
              </a:rPr>
              <a:t>Search &amp; Discovery Service</a:t>
            </a:r>
          </a:p>
          <a:p>
            <a:pPr algn="l" marL="273454" indent="-136727" lvl="1">
              <a:lnSpc>
                <a:spcPts val="1773"/>
              </a:lnSpc>
              <a:buFont typeface="Arial"/>
              <a:buChar char="•"/>
            </a:pPr>
            <a:r>
              <a:rPr lang="en-US" sz="1266">
                <a:solidFill>
                  <a:srgbClr val="000000"/>
                </a:solidFill>
                <a:latin typeface="Open Sans"/>
                <a:ea typeface="Open Sans"/>
                <a:cs typeface="Open Sans"/>
                <a:sym typeface="Open Sans"/>
              </a:rPr>
              <a:t>Ad</a:t>
            </a:r>
            <a:r>
              <a:rPr lang="en-US" sz="1266">
                <a:solidFill>
                  <a:srgbClr val="000000"/>
                </a:solidFill>
                <a:latin typeface="Open Sans"/>
                <a:ea typeface="Open Sans"/>
                <a:cs typeface="Open Sans"/>
                <a:sym typeface="Open Sans"/>
              </a:rPr>
              <a:t>min Analytics Service</a:t>
            </a:r>
          </a:p>
          <a:p>
            <a:pPr algn="just">
              <a:lnSpc>
                <a:spcPts val="1773"/>
              </a:lnSpc>
            </a:pPr>
          </a:p>
        </p:txBody>
      </p:sp>
      <p:sp>
        <p:nvSpPr>
          <p:cNvPr name="TextBox 81" id="81"/>
          <p:cNvSpPr txBox="true"/>
          <p:nvPr/>
        </p:nvSpPr>
        <p:spPr>
          <a:xfrm rot="0">
            <a:off x="15554610" y="2235448"/>
            <a:ext cx="932870" cy="150657"/>
          </a:xfrm>
          <a:prstGeom prst="rect">
            <a:avLst/>
          </a:prstGeom>
        </p:spPr>
        <p:txBody>
          <a:bodyPr anchor="t" rtlCol="false" tIns="0" lIns="0" bIns="0" rIns="0">
            <a:spAutoFit/>
          </a:bodyPr>
          <a:lstStyle/>
          <a:p>
            <a:pPr algn="ctr">
              <a:lnSpc>
                <a:spcPts val="1224"/>
              </a:lnSpc>
              <a:spcBef>
                <a:spcPct val="0"/>
              </a:spcBef>
            </a:pPr>
            <a:r>
              <a:rPr lang="en-US" sz="874">
                <a:solidFill>
                  <a:srgbClr val="000000"/>
                </a:solidFill>
                <a:latin typeface="Open Sans"/>
                <a:ea typeface="Open Sans"/>
                <a:cs typeface="Open Sans"/>
                <a:sym typeface="Open Sans"/>
              </a:rPr>
              <a:t>REST APIs / HTTPS</a:t>
            </a:r>
          </a:p>
        </p:txBody>
      </p:sp>
      <p:sp>
        <p:nvSpPr>
          <p:cNvPr name="TextBox 82" id="82"/>
          <p:cNvSpPr txBox="true"/>
          <p:nvPr/>
        </p:nvSpPr>
        <p:spPr>
          <a:xfrm rot="0">
            <a:off x="10017544" y="4314304"/>
            <a:ext cx="2381669" cy="1321198"/>
          </a:xfrm>
          <a:prstGeom prst="rect">
            <a:avLst/>
          </a:prstGeom>
        </p:spPr>
        <p:txBody>
          <a:bodyPr anchor="t" rtlCol="false" tIns="0" lIns="0" bIns="0" rIns="0">
            <a:spAutoFit/>
          </a:bodyPr>
          <a:lstStyle/>
          <a:p>
            <a:pPr algn="ctr">
              <a:lnSpc>
                <a:spcPts val="1772"/>
              </a:lnSpc>
              <a:spcBef>
                <a:spcPct val="0"/>
              </a:spcBef>
            </a:pPr>
            <a:r>
              <a:rPr lang="en-US" b="true" sz="1266">
                <a:solidFill>
                  <a:srgbClr val="000000"/>
                </a:solidFill>
                <a:latin typeface="Open Sans Bold"/>
                <a:ea typeface="Open Sans Bold"/>
                <a:cs typeface="Open Sans Bold"/>
                <a:sym typeface="Open Sans Bold"/>
              </a:rPr>
              <a:t> </a:t>
            </a:r>
            <a:r>
              <a:rPr lang="en-US" b="true" sz="1266">
                <a:solidFill>
                  <a:srgbClr val="000000"/>
                </a:solidFill>
                <a:latin typeface="Open Sans Bold"/>
                <a:ea typeface="Open Sans Bold"/>
                <a:cs typeface="Open Sans Bold"/>
                <a:sym typeface="Open Sans Bold"/>
              </a:rPr>
              <a:t>Sustainability Analytics</a:t>
            </a:r>
          </a:p>
          <a:p>
            <a:pPr algn="just" marL="273334" indent="-136667" lvl="1">
              <a:lnSpc>
                <a:spcPts val="1772"/>
              </a:lnSpc>
              <a:buFont typeface="Arial"/>
              <a:buChar char="•"/>
            </a:pPr>
            <a:r>
              <a:rPr lang="en-US" sz="1266">
                <a:solidFill>
                  <a:srgbClr val="000000"/>
                </a:solidFill>
                <a:latin typeface="Open Sans"/>
                <a:ea typeface="Open Sans"/>
                <a:cs typeface="Open Sans"/>
                <a:sym typeface="Open Sans"/>
              </a:rPr>
              <a:t>Waste pattern analysis</a:t>
            </a:r>
          </a:p>
          <a:p>
            <a:pPr algn="just" marL="273334" indent="-136667" lvl="1">
              <a:lnSpc>
                <a:spcPts val="1772"/>
              </a:lnSpc>
              <a:buFont typeface="Arial"/>
              <a:buChar char="•"/>
            </a:pPr>
            <a:r>
              <a:rPr lang="en-US" sz="1266">
                <a:solidFill>
                  <a:srgbClr val="000000"/>
                </a:solidFill>
                <a:latin typeface="Open Sans"/>
                <a:ea typeface="Open Sans"/>
                <a:cs typeface="Open Sans"/>
                <a:sym typeface="Open Sans"/>
              </a:rPr>
              <a:t>Demand hotspot prediction</a:t>
            </a:r>
          </a:p>
          <a:p>
            <a:pPr algn="just" marL="273334" indent="-136667" lvl="1">
              <a:lnSpc>
                <a:spcPts val="1772"/>
              </a:lnSpc>
              <a:buFont typeface="Arial"/>
              <a:buChar char="•"/>
            </a:pPr>
            <a:r>
              <a:rPr lang="en-US" sz="1266">
                <a:solidFill>
                  <a:srgbClr val="000000"/>
                </a:solidFill>
                <a:latin typeface="Open Sans"/>
                <a:ea typeface="Open Sans"/>
                <a:cs typeface="Open Sans"/>
                <a:sym typeface="Open Sans"/>
              </a:rPr>
              <a:t>Carbon insight</a:t>
            </a:r>
          </a:p>
          <a:p>
            <a:pPr algn="just">
              <a:lnSpc>
                <a:spcPts val="1772"/>
              </a:lnSpc>
            </a:pPr>
          </a:p>
          <a:p>
            <a:pPr algn="just">
              <a:lnSpc>
                <a:spcPts val="1772"/>
              </a:lnSpc>
            </a:pPr>
          </a:p>
        </p:txBody>
      </p:sp>
      <p:sp>
        <p:nvSpPr>
          <p:cNvPr name="TextBox 83" id="83"/>
          <p:cNvSpPr txBox="true"/>
          <p:nvPr/>
        </p:nvSpPr>
        <p:spPr>
          <a:xfrm rot="0">
            <a:off x="6016872" y="3371648"/>
            <a:ext cx="2134739" cy="283901"/>
          </a:xfrm>
          <a:prstGeom prst="rect">
            <a:avLst/>
          </a:prstGeom>
        </p:spPr>
        <p:txBody>
          <a:bodyPr anchor="t" rtlCol="false" tIns="0" lIns="0" bIns="0" rIns="0">
            <a:spAutoFit/>
          </a:bodyPr>
          <a:lstStyle/>
          <a:p>
            <a:pPr algn="ctr">
              <a:lnSpc>
                <a:spcPts val="2272"/>
              </a:lnSpc>
              <a:spcBef>
                <a:spcPct val="0"/>
              </a:spcBef>
            </a:pPr>
            <a:r>
              <a:rPr lang="en-US" b="true" sz="1623">
                <a:solidFill>
                  <a:srgbClr val="000000"/>
                </a:solidFill>
                <a:latin typeface="Poppins Bold"/>
                <a:ea typeface="Poppins Bold"/>
                <a:cs typeface="Poppins Bold"/>
                <a:sym typeface="Poppins Bold"/>
              </a:rPr>
              <a:t>AI Intelligence Layer</a:t>
            </a:r>
          </a:p>
        </p:txBody>
      </p:sp>
      <p:sp>
        <p:nvSpPr>
          <p:cNvPr name="TextBox 84" id="84"/>
          <p:cNvSpPr txBox="true"/>
          <p:nvPr/>
        </p:nvSpPr>
        <p:spPr>
          <a:xfrm rot="0">
            <a:off x="2661292" y="4275427"/>
            <a:ext cx="2233627" cy="1146756"/>
          </a:xfrm>
          <a:prstGeom prst="rect">
            <a:avLst/>
          </a:prstGeom>
        </p:spPr>
        <p:txBody>
          <a:bodyPr anchor="t" rtlCol="false" tIns="0" lIns="0" bIns="0" rIns="0">
            <a:spAutoFit/>
          </a:bodyPr>
          <a:lstStyle/>
          <a:p>
            <a:pPr algn="ctr">
              <a:lnSpc>
                <a:spcPts val="1891"/>
              </a:lnSpc>
              <a:spcBef>
                <a:spcPct val="0"/>
              </a:spcBef>
            </a:pPr>
            <a:r>
              <a:rPr lang="en-US" b="true" sz="1350">
                <a:solidFill>
                  <a:srgbClr val="000000"/>
                </a:solidFill>
                <a:latin typeface="Open Sans Bold"/>
                <a:ea typeface="Open Sans Bold"/>
                <a:cs typeface="Open Sans Bold"/>
                <a:sym typeface="Open Sans Bold"/>
              </a:rPr>
              <a:t>D</a:t>
            </a:r>
            <a:r>
              <a:rPr lang="en-US" b="true" sz="1350">
                <a:solidFill>
                  <a:srgbClr val="000000"/>
                </a:solidFill>
                <a:latin typeface="Open Sans Bold"/>
                <a:ea typeface="Open Sans Bold"/>
                <a:cs typeface="Open Sans Bold"/>
                <a:sym typeface="Open Sans Bold"/>
              </a:rPr>
              <a:t>emand Forecasting Engine</a:t>
            </a:r>
          </a:p>
          <a:p>
            <a:pPr algn="l" marL="274010" indent="-137005" lvl="1">
              <a:lnSpc>
                <a:spcPts val="1776"/>
              </a:lnSpc>
              <a:buFont typeface="Arial"/>
              <a:buChar char="•"/>
            </a:pPr>
            <a:r>
              <a:rPr lang="en-US" sz="1269">
                <a:solidFill>
                  <a:srgbClr val="000000"/>
                </a:solidFill>
                <a:latin typeface="Open Sans"/>
                <a:ea typeface="Open Sans"/>
                <a:cs typeface="Open Sans"/>
                <a:sym typeface="Open Sans"/>
              </a:rPr>
              <a:t>Predict surplus demand</a:t>
            </a:r>
          </a:p>
          <a:p>
            <a:pPr algn="l" marL="274010" indent="-137005" lvl="1">
              <a:lnSpc>
                <a:spcPts val="1776"/>
              </a:lnSpc>
              <a:buFont typeface="Arial"/>
              <a:buChar char="•"/>
            </a:pPr>
            <a:r>
              <a:rPr lang="en-US" sz="1269">
                <a:solidFill>
                  <a:srgbClr val="000000"/>
                </a:solidFill>
                <a:latin typeface="Open Sans"/>
                <a:ea typeface="Open Sans"/>
                <a:cs typeface="Open Sans"/>
                <a:sym typeface="Open Sans"/>
              </a:rPr>
              <a:t>Time-based trends</a:t>
            </a:r>
          </a:p>
          <a:p>
            <a:pPr algn="l" marL="274010" indent="-137005" lvl="1">
              <a:lnSpc>
                <a:spcPts val="1776"/>
              </a:lnSpc>
              <a:buFont typeface="Arial"/>
              <a:buChar char="•"/>
            </a:pPr>
            <a:r>
              <a:rPr lang="en-US" sz="1269">
                <a:solidFill>
                  <a:srgbClr val="000000"/>
                </a:solidFill>
                <a:latin typeface="Open Sans"/>
                <a:ea typeface="Open Sans"/>
                <a:cs typeface="Open Sans"/>
                <a:sym typeface="Open Sans"/>
              </a:rPr>
              <a:t>Purchase history</a:t>
            </a:r>
          </a:p>
        </p:txBody>
      </p:sp>
      <p:sp>
        <p:nvSpPr>
          <p:cNvPr name="TextBox 85" id="85"/>
          <p:cNvSpPr txBox="true"/>
          <p:nvPr/>
        </p:nvSpPr>
        <p:spPr>
          <a:xfrm rot="0">
            <a:off x="7529327" y="4270470"/>
            <a:ext cx="2212945" cy="1755760"/>
          </a:xfrm>
          <a:prstGeom prst="rect">
            <a:avLst/>
          </a:prstGeom>
        </p:spPr>
        <p:txBody>
          <a:bodyPr anchor="t" rtlCol="false" tIns="0" lIns="0" bIns="0" rIns="0">
            <a:spAutoFit/>
          </a:bodyPr>
          <a:lstStyle/>
          <a:p>
            <a:pPr algn="ctr">
              <a:lnSpc>
                <a:spcPts val="1743"/>
              </a:lnSpc>
              <a:spcBef>
                <a:spcPct val="0"/>
              </a:spcBef>
            </a:pPr>
            <a:r>
              <a:rPr lang="en-US" b="true" sz="1245">
                <a:solidFill>
                  <a:srgbClr val="000000"/>
                </a:solidFill>
                <a:latin typeface="Open Sans Bold"/>
                <a:ea typeface="Open Sans Bold"/>
                <a:cs typeface="Open Sans Bold"/>
                <a:sym typeface="Open Sans Bold"/>
              </a:rPr>
              <a:t>Rec</a:t>
            </a:r>
            <a:r>
              <a:rPr lang="en-US" b="true" sz="1245">
                <a:solidFill>
                  <a:srgbClr val="000000"/>
                </a:solidFill>
                <a:latin typeface="Open Sans Bold"/>
                <a:ea typeface="Open Sans Bold"/>
                <a:cs typeface="Open Sans Bold"/>
                <a:sym typeface="Open Sans Bold"/>
              </a:rPr>
              <a:t>ommendation &amp; Smart Search Engine</a:t>
            </a:r>
          </a:p>
          <a:p>
            <a:pPr algn="l" marL="268822" indent="-134411" lvl="1">
              <a:lnSpc>
                <a:spcPts val="1743"/>
              </a:lnSpc>
              <a:buFont typeface="Arial"/>
              <a:buChar char="•"/>
            </a:pPr>
            <a:r>
              <a:rPr lang="en-US" sz="1245">
                <a:solidFill>
                  <a:srgbClr val="000000"/>
                </a:solidFill>
                <a:latin typeface="Open Sans"/>
                <a:ea typeface="Open Sans"/>
                <a:cs typeface="Open Sans"/>
                <a:sym typeface="Open Sans"/>
              </a:rPr>
              <a:t>Per</a:t>
            </a:r>
            <a:r>
              <a:rPr lang="en-US" sz="1245">
                <a:solidFill>
                  <a:srgbClr val="000000"/>
                </a:solidFill>
                <a:latin typeface="Open Sans"/>
                <a:ea typeface="Open Sans"/>
                <a:cs typeface="Open Sans"/>
                <a:sym typeface="Open Sans"/>
              </a:rPr>
              <a:t>sonalized food recommendations</a:t>
            </a:r>
          </a:p>
          <a:p>
            <a:pPr algn="l" marL="268822" indent="-134411" lvl="1">
              <a:lnSpc>
                <a:spcPts val="1743"/>
              </a:lnSpc>
              <a:buFont typeface="Arial"/>
              <a:buChar char="•"/>
            </a:pPr>
            <a:r>
              <a:rPr lang="en-US" sz="1245">
                <a:solidFill>
                  <a:srgbClr val="000000"/>
                </a:solidFill>
                <a:latin typeface="Open Sans"/>
                <a:ea typeface="Open Sans"/>
                <a:cs typeface="Open Sans"/>
                <a:sym typeface="Open Sans"/>
              </a:rPr>
              <a:t>Smart nearby matches</a:t>
            </a:r>
          </a:p>
          <a:p>
            <a:pPr algn="l" marL="268822" indent="-134411" lvl="1">
              <a:lnSpc>
                <a:spcPts val="1743"/>
              </a:lnSpc>
              <a:buFont typeface="Arial"/>
              <a:buChar char="•"/>
            </a:pPr>
            <a:r>
              <a:rPr lang="en-US" sz="1245">
                <a:solidFill>
                  <a:srgbClr val="000000"/>
                </a:solidFill>
                <a:latin typeface="Open Sans"/>
                <a:ea typeface="Open Sans"/>
                <a:cs typeface="Open Sans"/>
                <a:sym typeface="Open Sans"/>
              </a:rPr>
              <a:t>Food search</a:t>
            </a:r>
          </a:p>
          <a:p>
            <a:pPr algn="l">
              <a:lnSpc>
                <a:spcPts val="1743"/>
              </a:lnSpc>
            </a:pPr>
          </a:p>
          <a:p>
            <a:pPr algn="l">
              <a:lnSpc>
                <a:spcPts val="1743"/>
              </a:lnSpc>
            </a:pPr>
          </a:p>
        </p:txBody>
      </p:sp>
      <p:sp>
        <p:nvSpPr>
          <p:cNvPr name="TextBox 86" id="86"/>
          <p:cNvSpPr txBox="true"/>
          <p:nvPr/>
        </p:nvSpPr>
        <p:spPr>
          <a:xfrm rot="0">
            <a:off x="6212522" y="3750778"/>
            <a:ext cx="1714117" cy="160308"/>
          </a:xfrm>
          <a:prstGeom prst="rect">
            <a:avLst/>
          </a:prstGeom>
        </p:spPr>
        <p:txBody>
          <a:bodyPr anchor="t" rtlCol="false" tIns="0" lIns="0" bIns="0" rIns="0">
            <a:spAutoFit/>
          </a:bodyPr>
          <a:lstStyle/>
          <a:p>
            <a:pPr algn="ctr">
              <a:lnSpc>
                <a:spcPts val="1316"/>
              </a:lnSpc>
              <a:spcBef>
                <a:spcPct val="0"/>
              </a:spcBef>
            </a:pPr>
            <a:r>
              <a:rPr lang="en-US" sz="940">
                <a:solidFill>
                  <a:srgbClr val="000000"/>
                </a:solidFill>
                <a:latin typeface="Open Sans"/>
                <a:ea typeface="Open Sans"/>
                <a:cs typeface="Open Sans"/>
                <a:sym typeface="Open Sans"/>
              </a:rPr>
              <a:t>(Python AI Models + Groq LLM)</a:t>
            </a:r>
          </a:p>
        </p:txBody>
      </p:sp>
      <p:sp>
        <p:nvSpPr>
          <p:cNvPr name="TextBox 87" id="87"/>
          <p:cNvSpPr txBox="true"/>
          <p:nvPr/>
        </p:nvSpPr>
        <p:spPr>
          <a:xfrm rot="0">
            <a:off x="5064820" y="4260945"/>
            <a:ext cx="2109080" cy="1392353"/>
          </a:xfrm>
          <a:prstGeom prst="rect">
            <a:avLst/>
          </a:prstGeom>
        </p:spPr>
        <p:txBody>
          <a:bodyPr anchor="t" rtlCol="false" tIns="0" lIns="0" bIns="0" rIns="0">
            <a:spAutoFit/>
          </a:bodyPr>
          <a:lstStyle/>
          <a:p>
            <a:pPr algn="ctr">
              <a:lnSpc>
                <a:spcPts val="1869"/>
              </a:lnSpc>
              <a:spcBef>
                <a:spcPct val="0"/>
              </a:spcBef>
            </a:pPr>
            <a:r>
              <a:rPr lang="en-US" b="true" sz="1335">
                <a:solidFill>
                  <a:srgbClr val="000000"/>
                </a:solidFill>
                <a:latin typeface="Open Sans Bold"/>
                <a:ea typeface="Open Sans Bold"/>
                <a:cs typeface="Open Sans Bold"/>
                <a:sym typeface="Open Sans Bold"/>
              </a:rPr>
              <a:t>Dynamic P</a:t>
            </a:r>
            <a:r>
              <a:rPr lang="en-US" b="true" sz="1335">
                <a:solidFill>
                  <a:srgbClr val="000000"/>
                </a:solidFill>
                <a:latin typeface="Open Sans Bold"/>
                <a:ea typeface="Open Sans Bold"/>
                <a:cs typeface="Open Sans Bold"/>
                <a:sym typeface="Open Sans Bold"/>
              </a:rPr>
              <a:t>ricing Optimizer</a:t>
            </a:r>
          </a:p>
          <a:p>
            <a:pPr algn="l">
              <a:lnSpc>
                <a:spcPts val="1869"/>
              </a:lnSpc>
              <a:spcBef>
                <a:spcPct val="0"/>
              </a:spcBef>
            </a:pPr>
            <a:r>
              <a:rPr lang="en-US" sz="1335">
                <a:solidFill>
                  <a:srgbClr val="000000"/>
                </a:solidFill>
                <a:latin typeface="Open Sans"/>
                <a:ea typeface="Open Sans"/>
                <a:cs typeface="Open Sans"/>
                <a:sym typeface="Open Sans"/>
              </a:rPr>
              <a:t>• Expiry time analysis</a:t>
            </a:r>
          </a:p>
          <a:p>
            <a:pPr algn="l">
              <a:lnSpc>
                <a:spcPts val="1869"/>
              </a:lnSpc>
              <a:spcBef>
                <a:spcPct val="0"/>
              </a:spcBef>
            </a:pPr>
            <a:r>
              <a:rPr lang="en-US" sz="1335">
                <a:solidFill>
                  <a:srgbClr val="000000"/>
                </a:solidFill>
                <a:latin typeface="Open Sans"/>
                <a:ea typeface="Open Sans"/>
                <a:cs typeface="Open Sans"/>
                <a:sym typeface="Open Sans"/>
              </a:rPr>
              <a:t>• Demand prediction</a:t>
            </a:r>
          </a:p>
          <a:p>
            <a:pPr algn="l">
              <a:lnSpc>
                <a:spcPts val="1869"/>
              </a:lnSpc>
            </a:pPr>
            <a:r>
              <a:rPr lang="en-US" sz="1335">
                <a:solidFill>
                  <a:srgbClr val="000000"/>
                </a:solidFill>
                <a:latin typeface="Open Sans"/>
                <a:ea typeface="Open Sans"/>
                <a:cs typeface="Open Sans"/>
                <a:sym typeface="Open Sans"/>
              </a:rPr>
              <a:t>• Optimal discount    suggestion</a:t>
            </a:r>
          </a:p>
        </p:txBody>
      </p:sp>
      <p:sp>
        <p:nvSpPr>
          <p:cNvPr name="TextBox 88" id="88"/>
          <p:cNvSpPr txBox="true"/>
          <p:nvPr/>
        </p:nvSpPr>
        <p:spPr>
          <a:xfrm rot="0">
            <a:off x="12857621" y="3898160"/>
            <a:ext cx="770466" cy="650892"/>
          </a:xfrm>
          <a:prstGeom prst="rect">
            <a:avLst/>
          </a:prstGeom>
        </p:spPr>
        <p:txBody>
          <a:bodyPr anchor="t" rtlCol="false" tIns="0" lIns="0" bIns="0" rIns="0">
            <a:spAutoFit/>
          </a:bodyPr>
          <a:lstStyle/>
          <a:p>
            <a:pPr algn="ctr">
              <a:lnSpc>
                <a:spcPts val="1298"/>
              </a:lnSpc>
              <a:spcBef>
                <a:spcPct val="0"/>
              </a:spcBef>
            </a:pPr>
            <a:r>
              <a:rPr lang="en-US" sz="927">
                <a:solidFill>
                  <a:srgbClr val="000000"/>
                </a:solidFill>
                <a:latin typeface="Open Sans"/>
                <a:ea typeface="Open Sans"/>
                <a:cs typeface="Open Sans"/>
                <a:sym typeface="Open Sans"/>
              </a:rPr>
              <a:t>Food listings</a:t>
            </a:r>
          </a:p>
          <a:p>
            <a:pPr algn="ctr">
              <a:lnSpc>
                <a:spcPts val="1298"/>
              </a:lnSpc>
              <a:spcBef>
                <a:spcPct val="0"/>
              </a:spcBef>
            </a:pPr>
            <a:r>
              <a:rPr lang="en-US" sz="927">
                <a:solidFill>
                  <a:srgbClr val="000000"/>
                </a:solidFill>
                <a:latin typeface="Open Sans"/>
                <a:ea typeface="Open Sans"/>
                <a:cs typeface="Open Sans"/>
                <a:sym typeface="Open Sans"/>
              </a:rPr>
              <a:t>User behavior</a:t>
            </a:r>
          </a:p>
          <a:p>
            <a:pPr algn="ctr">
              <a:lnSpc>
                <a:spcPts val="1298"/>
              </a:lnSpc>
              <a:spcBef>
                <a:spcPct val="0"/>
              </a:spcBef>
            </a:pPr>
            <a:r>
              <a:rPr lang="en-US" sz="927">
                <a:solidFill>
                  <a:srgbClr val="000000"/>
                </a:solidFill>
                <a:latin typeface="Open Sans"/>
                <a:ea typeface="Open Sans"/>
                <a:cs typeface="Open Sans"/>
                <a:sym typeface="Open Sans"/>
              </a:rPr>
              <a:t>Orders</a:t>
            </a:r>
          </a:p>
          <a:p>
            <a:pPr algn="ctr">
              <a:lnSpc>
                <a:spcPts val="1298"/>
              </a:lnSpc>
              <a:spcBef>
                <a:spcPct val="0"/>
              </a:spcBef>
            </a:pPr>
            <a:r>
              <a:rPr lang="en-US" sz="927">
                <a:solidFill>
                  <a:srgbClr val="000000"/>
                </a:solidFill>
                <a:latin typeface="Open Sans"/>
                <a:ea typeface="Open Sans"/>
                <a:cs typeface="Open Sans"/>
                <a:sym typeface="Open Sans"/>
              </a:rPr>
              <a:t>Location data</a:t>
            </a:r>
          </a:p>
        </p:txBody>
      </p:sp>
      <p:sp>
        <p:nvSpPr>
          <p:cNvPr name="TextBox 89" id="89"/>
          <p:cNvSpPr txBox="true"/>
          <p:nvPr/>
        </p:nvSpPr>
        <p:spPr>
          <a:xfrm rot="0">
            <a:off x="12658079" y="5224788"/>
            <a:ext cx="1177410" cy="603732"/>
          </a:xfrm>
          <a:prstGeom prst="rect">
            <a:avLst/>
          </a:prstGeom>
        </p:spPr>
        <p:txBody>
          <a:bodyPr anchor="t" rtlCol="false" tIns="0" lIns="0" bIns="0" rIns="0">
            <a:spAutoFit/>
          </a:bodyPr>
          <a:lstStyle/>
          <a:p>
            <a:pPr algn="ctr">
              <a:lnSpc>
                <a:spcPts val="1212"/>
              </a:lnSpc>
              <a:spcBef>
                <a:spcPct val="0"/>
              </a:spcBef>
            </a:pPr>
            <a:r>
              <a:rPr lang="en-US" sz="866">
                <a:solidFill>
                  <a:srgbClr val="000000"/>
                </a:solidFill>
                <a:latin typeface="Open Sans"/>
                <a:ea typeface="Open Sans"/>
                <a:cs typeface="Open Sans"/>
                <a:sym typeface="Open Sans"/>
              </a:rPr>
              <a:t>Recommended food</a:t>
            </a:r>
          </a:p>
          <a:p>
            <a:pPr algn="ctr">
              <a:lnSpc>
                <a:spcPts val="1212"/>
              </a:lnSpc>
              <a:spcBef>
                <a:spcPct val="0"/>
              </a:spcBef>
            </a:pPr>
            <a:r>
              <a:rPr lang="en-US" sz="866">
                <a:solidFill>
                  <a:srgbClr val="000000"/>
                </a:solidFill>
                <a:latin typeface="Open Sans"/>
                <a:ea typeface="Open Sans"/>
                <a:cs typeface="Open Sans"/>
                <a:sym typeface="Open Sans"/>
              </a:rPr>
              <a:t>Suggested discount</a:t>
            </a:r>
          </a:p>
          <a:p>
            <a:pPr algn="ctr">
              <a:lnSpc>
                <a:spcPts val="1212"/>
              </a:lnSpc>
              <a:spcBef>
                <a:spcPct val="0"/>
              </a:spcBef>
            </a:pPr>
            <a:r>
              <a:rPr lang="en-US" sz="866">
                <a:solidFill>
                  <a:srgbClr val="000000"/>
                </a:solidFill>
                <a:latin typeface="Open Sans"/>
                <a:ea typeface="Open Sans"/>
                <a:cs typeface="Open Sans"/>
                <a:sym typeface="Open Sans"/>
              </a:rPr>
              <a:t>NGO matching</a:t>
            </a:r>
          </a:p>
          <a:p>
            <a:pPr algn="ctr">
              <a:lnSpc>
                <a:spcPts val="1212"/>
              </a:lnSpc>
              <a:spcBef>
                <a:spcPct val="0"/>
              </a:spcBef>
            </a:pPr>
            <a:r>
              <a:rPr lang="en-US" sz="866">
                <a:solidFill>
                  <a:srgbClr val="000000"/>
                </a:solidFill>
                <a:latin typeface="Open Sans"/>
                <a:ea typeface="Open Sans"/>
                <a:cs typeface="Open Sans"/>
                <a:sym typeface="Open Sans"/>
              </a:rPr>
              <a:t>Carbon impact insights</a:t>
            </a:r>
          </a:p>
        </p:txBody>
      </p:sp>
      <p:sp>
        <p:nvSpPr>
          <p:cNvPr name="TextBox 90" id="90"/>
          <p:cNvSpPr txBox="true"/>
          <p:nvPr/>
        </p:nvSpPr>
        <p:spPr>
          <a:xfrm rot="0">
            <a:off x="9555811" y="6282720"/>
            <a:ext cx="1759234" cy="276478"/>
          </a:xfrm>
          <a:prstGeom prst="rect">
            <a:avLst/>
          </a:prstGeom>
        </p:spPr>
        <p:txBody>
          <a:bodyPr anchor="t" rtlCol="false" tIns="0" lIns="0" bIns="0" rIns="0">
            <a:spAutoFit/>
          </a:bodyPr>
          <a:lstStyle/>
          <a:p>
            <a:pPr algn="ctr" marL="0" indent="0" lvl="0">
              <a:lnSpc>
                <a:spcPts val="2128"/>
              </a:lnSpc>
              <a:spcBef>
                <a:spcPct val="0"/>
              </a:spcBef>
            </a:pPr>
            <a:r>
              <a:rPr lang="en-US" b="true" sz="1520" strike="noStrike" u="none">
                <a:solidFill>
                  <a:srgbClr val="000000"/>
                </a:solidFill>
                <a:latin typeface="Poppins Bold"/>
                <a:ea typeface="Poppins Bold"/>
                <a:cs typeface="Poppins Bold"/>
                <a:sym typeface="Poppins Bold"/>
              </a:rPr>
              <a:t>Database</a:t>
            </a:r>
            <a:r>
              <a:rPr lang="en-US" b="true" sz="1520" strike="noStrike" u="none">
                <a:solidFill>
                  <a:srgbClr val="000000"/>
                </a:solidFill>
                <a:latin typeface="Poppins Bold"/>
                <a:ea typeface="Poppins Bold"/>
                <a:cs typeface="Poppins Bold"/>
                <a:sym typeface="Poppins Bold"/>
              </a:rPr>
              <a:t> Layer</a:t>
            </a:r>
          </a:p>
        </p:txBody>
      </p:sp>
      <p:sp>
        <p:nvSpPr>
          <p:cNvPr name="TextBox 91" id="91"/>
          <p:cNvSpPr txBox="true"/>
          <p:nvPr/>
        </p:nvSpPr>
        <p:spPr>
          <a:xfrm rot="0">
            <a:off x="9454058" y="6892778"/>
            <a:ext cx="1946783" cy="2141306"/>
          </a:xfrm>
          <a:prstGeom prst="rect">
            <a:avLst/>
          </a:prstGeom>
        </p:spPr>
        <p:txBody>
          <a:bodyPr anchor="t" rtlCol="false" tIns="0" lIns="0" bIns="0" rIns="0">
            <a:spAutoFit/>
          </a:bodyPr>
          <a:lstStyle/>
          <a:p>
            <a:pPr algn="l" marL="238942" indent="-119471" lvl="1">
              <a:lnSpc>
                <a:spcPts val="1549"/>
              </a:lnSpc>
              <a:buFont typeface="Arial"/>
              <a:buChar char="•"/>
            </a:pPr>
            <a:r>
              <a:rPr lang="en-US" sz="1106">
                <a:solidFill>
                  <a:srgbClr val="000000"/>
                </a:solidFill>
                <a:latin typeface="Open Sans"/>
                <a:ea typeface="Open Sans"/>
                <a:cs typeface="Open Sans"/>
                <a:sym typeface="Open Sans"/>
              </a:rPr>
              <a:t>U</a:t>
            </a:r>
            <a:r>
              <a:rPr lang="en-US" sz="1106">
                <a:solidFill>
                  <a:srgbClr val="000000"/>
                </a:solidFill>
                <a:latin typeface="Open Sans"/>
                <a:ea typeface="Open Sans"/>
                <a:cs typeface="Open Sans"/>
                <a:sym typeface="Open Sans"/>
              </a:rPr>
              <a:t>sers &amp; Roles</a:t>
            </a:r>
          </a:p>
          <a:p>
            <a:pPr algn="l" marL="238942" indent="-119471" lvl="1">
              <a:lnSpc>
                <a:spcPts val="1549"/>
              </a:lnSpc>
              <a:buFont typeface="Arial"/>
              <a:buChar char="•"/>
            </a:pPr>
            <a:r>
              <a:rPr lang="en-US" sz="1106">
                <a:solidFill>
                  <a:srgbClr val="000000"/>
                </a:solidFill>
                <a:latin typeface="Open Sans"/>
                <a:ea typeface="Open Sans"/>
                <a:cs typeface="Open Sans"/>
                <a:sym typeface="Open Sans"/>
              </a:rPr>
              <a:t>User Profiles</a:t>
            </a:r>
          </a:p>
          <a:p>
            <a:pPr algn="l" marL="238942" indent="-119471" lvl="1">
              <a:lnSpc>
                <a:spcPts val="1549"/>
              </a:lnSpc>
              <a:buFont typeface="Arial"/>
              <a:buChar char="•"/>
            </a:pPr>
            <a:r>
              <a:rPr lang="en-US" sz="1106">
                <a:solidFill>
                  <a:srgbClr val="000000"/>
                </a:solidFill>
                <a:latin typeface="Open Sans"/>
                <a:ea typeface="Open Sans"/>
                <a:cs typeface="Open Sans"/>
                <a:sym typeface="Open Sans"/>
              </a:rPr>
              <a:t>Seller &amp; Business Details</a:t>
            </a:r>
          </a:p>
          <a:p>
            <a:pPr algn="l" marL="238942" indent="-119471" lvl="1">
              <a:lnSpc>
                <a:spcPts val="1549"/>
              </a:lnSpc>
              <a:buFont typeface="Arial"/>
              <a:buChar char="•"/>
            </a:pPr>
            <a:r>
              <a:rPr lang="en-US" sz="1106">
                <a:solidFill>
                  <a:srgbClr val="000000"/>
                </a:solidFill>
                <a:latin typeface="Open Sans"/>
                <a:ea typeface="Open Sans"/>
                <a:cs typeface="Open Sans"/>
                <a:sym typeface="Open Sans"/>
              </a:rPr>
              <a:t>Food Listings &amp; Inventory</a:t>
            </a:r>
          </a:p>
          <a:p>
            <a:pPr algn="l" marL="238942" indent="-119471" lvl="1">
              <a:lnSpc>
                <a:spcPts val="1549"/>
              </a:lnSpc>
              <a:buFont typeface="Arial"/>
              <a:buChar char="•"/>
            </a:pPr>
            <a:r>
              <a:rPr lang="en-US" sz="1106">
                <a:solidFill>
                  <a:srgbClr val="000000"/>
                </a:solidFill>
                <a:latin typeface="Open Sans"/>
                <a:ea typeface="Open Sans"/>
                <a:cs typeface="Open Sans"/>
                <a:sym typeface="Open Sans"/>
              </a:rPr>
              <a:t>Orders &amp; QR Pickup Records</a:t>
            </a:r>
          </a:p>
          <a:p>
            <a:pPr algn="l" marL="238942" indent="-119471" lvl="1">
              <a:lnSpc>
                <a:spcPts val="1549"/>
              </a:lnSpc>
              <a:buFont typeface="Arial"/>
              <a:buChar char="•"/>
            </a:pPr>
            <a:r>
              <a:rPr lang="en-US" sz="1106">
                <a:solidFill>
                  <a:srgbClr val="000000"/>
                </a:solidFill>
                <a:latin typeface="Open Sans"/>
                <a:ea typeface="Open Sans"/>
                <a:cs typeface="Open Sans"/>
                <a:sym typeface="Open Sans"/>
              </a:rPr>
              <a:t>NGO Event Listings</a:t>
            </a:r>
          </a:p>
          <a:p>
            <a:pPr algn="l" marL="238942" indent="-119471" lvl="1">
              <a:lnSpc>
                <a:spcPts val="1549"/>
              </a:lnSpc>
              <a:buFont typeface="Arial"/>
              <a:buChar char="•"/>
            </a:pPr>
            <a:r>
              <a:rPr lang="en-US" sz="1106">
                <a:solidFill>
                  <a:srgbClr val="000000"/>
                </a:solidFill>
                <a:latin typeface="Open Sans"/>
                <a:ea typeface="Open Sans"/>
                <a:cs typeface="Open Sans"/>
                <a:sym typeface="Open Sans"/>
              </a:rPr>
              <a:t>Reviews &amp; Ratings</a:t>
            </a:r>
          </a:p>
          <a:p>
            <a:pPr algn="l" marL="238942" indent="-119471" lvl="1">
              <a:lnSpc>
                <a:spcPts val="1549"/>
              </a:lnSpc>
              <a:buFont typeface="Arial"/>
              <a:buChar char="•"/>
            </a:pPr>
            <a:r>
              <a:rPr lang="en-US" sz="1106">
                <a:solidFill>
                  <a:srgbClr val="000000"/>
                </a:solidFill>
                <a:latin typeface="Open Sans"/>
                <a:ea typeface="Open Sans"/>
                <a:cs typeface="Open Sans"/>
                <a:sym typeface="Open Sans"/>
              </a:rPr>
              <a:t>Inspection Requests</a:t>
            </a:r>
          </a:p>
          <a:p>
            <a:pPr algn="l" marL="238942" indent="-119471" lvl="1">
              <a:lnSpc>
                <a:spcPts val="1549"/>
              </a:lnSpc>
              <a:buFont typeface="Arial"/>
              <a:buChar char="•"/>
            </a:pPr>
            <a:r>
              <a:rPr lang="en-US" sz="1106">
                <a:solidFill>
                  <a:srgbClr val="000000"/>
                </a:solidFill>
                <a:latin typeface="Open Sans"/>
                <a:ea typeface="Open Sans"/>
                <a:cs typeface="Open Sans"/>
                <a:sym typeface="Open Sans"/>
              </a:rPr>
              <a:t>Complaints</a:t>
            </a:r>
          </a:p>
          <a:p>
            <a:pPr algn="l" marL="238942" indent="-119471" lvl="1">
              <a:lnSpc>
                <a:spcPts val="1549"/>
              </a:lnSpc>
              <a:buFont typeface="Arial"/>
              <a:buChar char="•"/>
            </a:pPr>
            <a:r>
              <a:rPr lang="en-US" sz="1106">
                <a:solidFill>
                  <a:srgbClr val="000000"/>
                </a:solidFill>
                <a:latin typeface="Open Sans"/>
                <a:ea typeface="Open Sans"/>
                <a:cs typeface="Open Sans"/>
                <a:sym typeface="Open Sans"/>
              </a:rPr>
              <a:t>Carbon Impact Logs</a:t>
            </a:r>
          </a:p>
        </p:txBody>
      </p:sp>
      <p:sp>
        <p:nvSpPr>
          <p:cNvPr name="TextBox 92" id="92"/>
          <p:cNvSpPr txBox="true"/>
          <p:nvPr/>
        </p:nvSpPr>
        <p:spPr>
          <a:xfrm rot="0">
            <a:off x="9614327" y="6542828"/>
            <a:ext cx="1626245" cy="186389"/>
          </a:xfrm>
          <a:prstGeom prst="rect">
            <a:avLst/>
          </a:prstGeom>
        </p:spPr>
        <p:txBody>
          <a:bodyPr anchor="t" rtlCol="false" tIns="0" lIns="0" bIns="0" rIns="0">
            <a:spAutoFit/>
          </a:bodyPr>
          <a:lstStyle/>
          <a:p>
            <a:pPr algn="ctr">
              <a:lnSpc>
                <a:spcPts val="1559"/>
              </a:lnSpc>
              <a:spcBef>
                <a:spcPct val="0"/>
              </a:spcBef>
            </a:pPr>
            <a:r>
              <a:rPr lang="en-US" sz="1113">
                <a:solidFill>
                  <a:srgbClr val="000000"/>
                </a:solidFill>
                <a:latin typeface="Open Sans"/>
                <a:ea typeface="Open Sans"/>
                <a:cs typeface="Open Sans"/>
                <a:sym typeface="Open Sans"/>
              </a:rPr>
              <a:t>(Relational Data Storage)</a:t>
            </a:r>
          </a:p>
        </p:txBody>
      </p:sp>
      <p:sp>
        <p:nvSpPr>
          <p:cNvPr name="Freeform 93" id="93"/>
          <p:cNvSpPr/>
          <p:nvPr/>
        </p:nvSpPr>
        <p:spPr>
          <a:xfrm flipH="false" flipV="false" rot="0">
            <a:off x="11364417" y="3601937"/>
            <a:ext cx="918465" cy="335783"/>
          </a:xfrm>
          <a:custGeom>
            <a:avLst/>
            <a:gdLst/>
            <a:ahLst/>
            <a:cxnLst/>
            <a:rect r="r" b="b" t="t" l="l"/>
            <a:pathLst>
              <a:path h="335783" w="918465">
                <a:moveTo>
                  <a:pt x="0" y="0"/>
                </a:moveTo>
                <a:lnTo>
                  <a:pt x="918465" y="0"/>
                </a:lnTo>
                <a:lnTo>
                  <a:pt x="918465" y="335782"/>
                </a:lnTo>
                <a:lnTo>
                  <a:pt x="0" y="335782"/>
                </a:lnTo>
                <a:lnTo>
                  <a:pt x="0" y="0"/>
                </a:lnTo>
                <a:close/>
              </a:path>
            </a:pathLst>
          </a:custGeom>
          <a:blipFill>
            <a:blip r:embed="rId11"/>
            <a:stretch>
              <a:fillRect l="0" t="0" r="0" b="0"/>
            </a:stretch>
          </a:blipFill>
        </p:spPr>
      </p:sp>
      <p:sp>
        <p:nvSpPr>
          <p:cNvPr name="TextBox 94" id="94"/>
          <p:cNvSpPr txBox="true"/>
          <p:nvPr/>
        </p:nvSpPr>
        <p:spPr>
          <a:xfrm rot="0">
            <a:off x="11956622" y="6663900"/>
            <a:ext cx="1402914" cy="165654"/>
          </a:xfrm>
          <a:prstGeom prst="rect">
            <a:avLst/>
          </a:prstGeom>
        </p:spPr>
        <p:txBody>
          <a:bodyPr anchor="t" rtlCol="false" tIns="0" lIns="0" bIns="0" rIns="0">
            <a:spAutoFit/>
          </a:bodyPr>
          <a:lstStyle/>
          <a:p>
            <a:pPr algn="ctr">
              <a:lnSpc>
                <a:spcPts val="1445"/>
              </a:lnSpc>
              <a:spcBef>
                <a:spcPct val="0"/>
              </a:spcBef>
            </a:pPr>
            <a:r>
              <a:rPr lang="en-US" sz="1032">
                <a:solidFill>
                  <a:srgbClr val="000000"/>
                </a:solidFill>
                <a:latin typeface="Open Sans"/>
                <a:ea typeface="Open Sans"/>
                <a:cs typeface="Open Sans"/>
                <a:sym typeface="Open Sans"/>
              </a:rPr>
              <a:t>backend sends queries</a:t>
            </a:r>
          </a:p>
        </p:txBody>
      </p:sp>
      <p:sp>
        <p:nvSpPr>
          <p:cNvPr name="TextBox 95" id="95"/>
          <p:cNvSpPr txBox="true"/>
          <p:nvPr/>
        </p:nvSpPr>
        <p:spPr>
          <a:xfrm rot="0">
            <a:off x="11760742" y="7040122"/>
            <a:ext cx="2042026" cy="165122"/>
          </a:xfrm>
          <a:prstGeom prst="rect">
            <a:avLst/>
          </a:prstGeom>
        </p:spPr>
        <p:txBody>
          <a:bodyPr anchor="t" rtlCol="false" tIns="0" lIns="0" bIns="0" rIns="0">
            <a:spAutoFit/>
          </a:bodyPr>
          <a:lstStyle/>
          <a:p>
            <a:pPr algn="ctr">
              <a:lnSpc>
                <a:spcPts val="1371"/>
              </a:lnSpc>
              <a:spcBef>
                <a:spcPct val="0"/>
              </a:spcBef>
            </a:pPr>
            <a:r>
              <a:rPr lang="en-US" sz="979">
                <a:solidFill>
                  <a:srgbClr val="000000"/>
                </a:solidFill>
                <a:latin typeface="Open Sans"/>
                <a:ea typeface="Open Sans"/>
                <a:cs typeface="Open Sans"/>
                <a:sym typeface="Open Sans"/>
              </a:rPr>
              <a:t>database stores and retrieves data.</a:t>
            </a:r>
          </a:p>
        </p:txBody>
      </p:sp>
      <p:grpSp>
        <p:nvGrpSpPr>
          <p:cNvPr name="Group 96" id="96"/>
          <p:cNvGrpSpPr/>
          <p:nvPr/>
        </p:nvGrpSpPr>
        <p:grpSpPr>
          <a:xfrm rot="0">
            <a:off x="4626395" y="6387906"/>
            <a:ext cx="3656984" cy="2818366"/>
            <a:chOff x="0" y="0"/>
            <a:chExt cx="2742022" cy="2113223"/>
          </a:xfrm>
        </p:grpSpPr>
        <p:sp>
          <p:nvSpPr>
            <p:cNvPr name="Freeform 97" id="97"/>
            <p:cNvSpPr/>
            <p:nvPr/>
          </p:nvSpPr>
          <p:spPr>
            <a:xfrm flipH="false" flipV="false" rot="0">
              <a:off x="0" y="0"/>
              <a:ext cx="2742022" cy="2113223"/>
            </a:xfrm>
            <a:custGeom>
              <a:avLst/>
              <a:gdLst/>
              <a:ahLst/>
              <a:cxnLst/>
              <a:rect r="r" b="b" t="t" l="l"/>
              <a:pathLst>
                <a:path h="2113223" w="2742022">
                  <a:moveTo>
                    <a:pt x="0" y="0"/>
                  </a:moveTo>
                  <a:lnTo>
                    <a:pt x="2742022" y="0"/>
                  </a:lnTo>
                  <a:lnTo>
                    <a:pt x="2742022" y="2113223"/>
                  </a:lnTo>
                  <a:lnTo>
                    <a:pt x="0" y="2113223"/>
                  </a:lnTo>
                  <a:close/>
                </a:path>
              </a:pathLst>
            </a:custGeom>
            <a:solidFill>
              <a:srgbClr val="DAF0BD"/>
            </a:solidFill>
            <a:ln w="19050" cap="sq">
              <a:solidFill>
                <a:srgbClr val="000000"/>
              </a:solidFill>
              <a:prstDash val="solid"/>
              <a:miter/>
            </a:ln>
          </p:spPr>
        </p:sp>
        <p:sp>
          <p:nvSpPr>
            <p:cNvPr name="TextBox 98" id="98"/>
            <p:cNvSpPr txBox="true"/>
            <p:nvPr/>
          </p:nvSpPr>
          <p:spPr>
            <a:xfrm>
              <a:off x="0" y="0"/>
              <a:ext cx="2742022" cy="2113223"/>
            </a:xfrm>
            <a:prstGeom prst="rect">
              <a:avLst/>
            </a:prstGeom>
          </p:spPr>
          <p:txBody>
            <a:bodyPr anchor="ctr" rtlCol="false" tIns="12291" lIns="12291" bIns="12291" rIns="12291"/>
            <a:lstStyle/>
            <a:p>
              <a:pPr algn="ctr">
                <a:lnSpc>
                  <a:spcPts val="528"/>
                </a:lnSpc>
              </a:pPr>
            </a:p>
          </p:txBody>
        </p:sp>
      </p:grpSp>
      <p:grpSp>
        <p:nvGrpSpPr>
          <p:cNvPr name="Group 99" id="99"/>
          <p:cNvGrpSpPr/>
          <p:nvPr/>
        </p:nvGrpSpPr>
        <p:grpSpPr>
          <a:xfrm rot="0">
            <a:off x="5018849" y="7070066"/>
            <a:ext cx="2694178" cy="1953703"/>
            <a:chOff x="0" y="0"/>
            <a:chExt cx="2020106" cy="1464894"/>
          </a:xfrm>
        </p:grpSpPr>
        <p:sp>
          <p:nvSpPr>
            <p:cNvPr name="Freeform 100" id="100"/>
            <p:cNvSpPr/>
            <p:nvPr/>
          </p:nvSpPr>
          <p:spPr>
            <a:xfrm flipH="false" flipV="false" rot="0">
              <a:off x="0" y="0"/>
              <a:ext cx="2020106" cy="1464894"/>
            </a:xfrm>
            <a:custGeom>
              <a:avLst/>
              <a:gdLst/>
              <a:ahLst/>
              <a:cxnLst/>
              <a:rect r="r" b="b" t="t" l="l"/>
              <a:pathLst>
                <a:path h="1464894" w="2020106">
                  <a:moveTo>
                    <a:pt x="0" y="0"/>
                  </a:moveTo>
                  <a:lnTo>
                    <a:pt x="2020106" y="0"/>
                  </a:lnTo>
                  <a:lnTo>
                    <a:pt x="2020106" y="1464894"/>
                  </a:lnTo>
                  <a:lnTo>
                    <a:pt x="0" y="1464894"/>
                  </a:lnTo>
                  <a:close/>
                </a:path>
              </a:pathLst>
            </a:custGeom>
            <a:solidFill>
              <a:srgbClr val="E0B3B3"/>
            </a:solidFill>
            <a:ln cap="sq">
              <a:noFill/>
              <a:prstDash val="solid"/>
              <a:miter/>
            </a:ln>
          </p:spPr>
        </p:sp>
        <p:sp>
          <p:nvSpPr>
            <p:cNvPr name="TextBox 101" id="101"/>
            <p:cNvSpPr txBox="true"/>
            <p:nvPr/>
          </p:nvSpPr>
          <p:spPr>
            <a:xfrm>
              <a:off x="0" y="0"/>
              <a:ext cx="2020106" cy="1464894"/>
            </a:xfrm>
            <a:prstGeom prst="rect">
              <a:avLst/>
            </a:prstGeom>
          </p:spPr>
          <p:txBody>
            <a:bodyPr anchor="ctr" rtlCol="false" tIns="12291" lIns="12291" bIns="12291" rIns="12291"/>
            <a:lstStyle/>
            <a:p>
              <a:pPr algn="ctr">
                <a:lnSpc>
                  <a:spcPts val="528"/>
                </a:lnSpc>
              </a:pPr>
            </a:p>
          </p:txBody>
        </p:sp>
      </p:grpSp>
      <p:sp>
        <p:nvSpPr>
          <p:cNvPr name="TextBox 102" id="102"/>
          <p:cNvSpPr txBox="true"/>
          <p:nvPr/>
        </p:nvSpPr>
        <p:spPr>
          <a:xfrm rot="0">
            <a:off x="4550060" y="6455653"/>
            <a:ext cx="3809653" cy="290560"/>
          </a:xfrm>
          <a:prstGeom prst="rect">
            <a:avLst/>
          </a:prstGeom>
        </p:spPr>
        <p:txBody>
          <a:bodyPr anchor="t" rtlCol="false" tIns="0" lIns="0" bIns="0" rIns="0">
            <a:spAutoFit/>
          </a:bodyPr>
          <a:lstStyle/>
          <a:p>
            <a:pPr algn="ctr" marL="0" indent="0" lvl="0">
              <a:lnSpc>
                <a:spcPts val="2259"/>
              </a:lnSpc>
              <a:spcBef>
                <a:spcPct val="0"/>
              </a:spcBef>
            </a:pPr>
            <a:r>
              <a:rPr lang="en-US" b="true" sz="1613">
                <a:solidFill>
                  <a:srgbClr val="000000"/>
                </a:solidFill>
                <a:latin typeface="Poppins Bold"/>
                <a:ea typeface="Poppins Bold"/>
                <a:cs typeface="Poppins Bold"/>
                <a:sym typeface="Poppins Bold"/>
              </a:rPr>
              <a:t>Food Inspector &amp; An</a:t>
            </a:r>
            <a:r>
              <a:rPr lang="en-US" b="true" sz="1613" strike="noStrike" u="none">
                <a:solidFill>
                  <a:srgbClr val="000000"/>
                </a:solidFill>
                <a:latin typeface="Poppins Bold"/>
                <a:ea typeface="Poppins Bold"/>
                <a:cs typeface="Poppins Bold"/>
                <a:sym typeface="Poppins Bold"/>
              </a:rPr>
              <a:t>alytics Layer</a:t>
            </a:r>
          </a:p>
        </p:txBody>
      </p:sp>
      <p:sp>
        <p:nvSpPr>
          <p:cNvPr name="TextBox 103" id="103"/>
          <p:cNvSpPr txBox="true"/>
          <p:nvPr/>
        </p:nvSpPr>
        <p:spPr>
          <a:xfrm rot="0">
            <a:off x="5086914" y="7144229"/>
            <a:ext cx="3097120" cy="1742242"/>
          </a:xfrm>
          <a:prstGeom prst="rect">
            <a:avLst/>
          </a:prstGeom>
        </p:spPr>
        <p:txBody>
          <a:bodyPr anchor="t" rtlCol="false" tIns="0" lIns="0" bIns="0" rIns="0">
            <a:spAutoFit/>
          </a:bodyPr>
          <a:lstStyle/>
          <a:p>
            <a:pPr algn="l" marL="268097" indent="-134049" lvl="1">
              <a:lnSpc>
                <a:spcPts val="1738"/>
              </a:lnSpc>
              <a:buFont typeface="Arial"/>
              <a:buChar char="•"/>
            </a:pPr>
            <a:r>
              <a:rPr lang="en-US" sz="1241">
                <a:solidFill>
                  <a:srgbClr val="000000"/>
                </a:solidFill>
                <a:latin typeface="Open Sans"/>
                <a:ea typeface="Open Sans"/>
                <a:cs typeface="Open Sans"/>
                <a:sym typeface="Open Sans"/>
              </a:rPr>
              <a:t>C</a:t>
            </a:r>
            <a:r>
              <a:rPr lang="en-US" sz="1241">
                <a:solidFill>
                  <a:srgbClr val="000000"/>
                </a:solidFill>
                <a:latin typeface="Open Sans"/>
                <a:ea typeface="Open Sans"/>
                <a:cs typeface="Open Sans"/>
                <a:sym typeface="Open Sans"/>
              </a:rPr>
              <a:t>entralized Admin Dashboard</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Food Saved Reports</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CO₂ Reduction Reports</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Top Sustainable Sellers</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City-wise Waste Reduction</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Expiry Trend Analysis</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Demand Hotspot Analytics</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Platform Usage Statistics</a:t>
            </a:r>
          </a:p>
        </p:txBody>
      </p:sp>
      <p:sp>
        <p:nvSpPr>
          <p:cNvPr name="TextBox 104" id="104"/>
          <p:cNvSpPr txBox="true"/>
          <p:nvPr/>
        </p:nvSpPr>
        <p:spPr>
          <a:xfrm rot="0">
            <a:off x="4818219" y="6779707"/>
            <a:ext cx="3259108" cy="839096"/>
          </a:xfrm>
          <a:prstGeom prst="rect">
            <a:avLst/>
          </a:prstGeom>
        </p:spPr>
        <p:txBody>
          <a:bodyPr anchor="t" rtlCol="false" tIns="0" lIns="0" bIns="0" rIns="0">
            <a:spAutoFit/>
          </a:bodyPr>
          <a:lstStyle/>
          <a:p>
            <a:pPr algn="ctr">
              <a:lnSpc>
                <a:spcPts val="1683"/>
              </a:lnSpc>
              <a:spcBef>
                <a:spcPct val="0"/>
              </a:spcBef>
            </a:pPr>
            <a:r>
              <a:rPr lang="en-US" sz="1202">
                <a:solidFill>
                  <a:srgbClr val="000000"/>
                </a:solidFill>
                <a:latin typeface="Open Sans"/>
                <a:ea typeface="Open Sans"/>
                <a:cs typeface="Open Sans"/>
                <a:sym typeface="Open Sans"/>
              </a:rPr>
              <a:t>(Platform Monitoring &amp; Sustainability Insights)</a:t>
            </a:r>
          </a:p>
          <a:p>
            <a:pPr algn="ctr">
              <a:lnSpc>
                <a:spcPts val="1683"/>
              </a:lnSpc>
              <a:spcBef>
                <a:spcPct val="0"/>
              </a:spcBef>
            </a:pPr>
          </a:p>
          <a:p>
            <a:pPr algn="ctr">
              <a:lnSpc>
                <a:spcPts val="1683"/>
              </a:lnSpc>
              <a:spcBef>
                <a:spcPct val="0"/>
              </a:spcBef>
            </a:pPr>
          </a:p>
          <a:p>
            <a:pPr algn="ctr">
              <a:lnSpc>
                <a:spcPts val="1683"/>
              </a:lnSpc>
              <a:spcBef>
                <a:spcPct val="0"/>
              </a:spcBef>
            </a:pPr>
          </a:p>
        </p:txBody>
      </p:sp>
      <p:sp>
        <p:nvSpPr>
          <p:cNvPr name="AutoShape 105" id="105"/>
          <p:cNvSpPr/>
          <p:nvPr/>
        </p:nvSpPr>
        <p:spPr>
          <a:xfrm>
            <a:off x="6454886" y="5949562"/>
            <a:ext cx="0" cy="438344"/>
          </a:xfrm>
          <a:prstGeom prst="line">
            <a:avLst/>
          </a:prstGeom>
          <a:ln cap="flat" w="19050">
            <a:solidFill>
              <a:srgbClr val="000000"/>
            </a:solidFill>
            <a:prstDash val="sysDot"/>
            <a:headEnd type="none" len="sm" w="sm"/>
            <a:tailEnd type="arrow" len="sm" w="med"/>
          </a:ln>
        </p:spPr>
      </p:sp>
      <p:sp>
        <p:nvSpPr>
          <p:cNvPr name="TextBox 106" id="106"/>
          <p:cNvSpPr txBox="true"/>
          <p:nvPr/>
        </p:nvSpPr>
        <p:spPr>
          <a:xfrm rot="0">
            <a:off x="4826622" y="6063666"/>
            <a:ext cx="1562119" cy="179231"/>
          </a:xfrm>
          <a:prstGeom prst="rect">
            <a:avLst/>
          </a:prstGeom>
        </p:spPr>
        <p:txBody>
          <a:bodyPr anchor="t" rtlCol="false" tIns="0" lIns="0" bIns="0" rIns="0">
            <a:spAutoFit/>
          </a:bodyPr>
          <a:lstStyle/>
          <a:p>
            <a:pPr algn="ctr">
              <a:lnSpc>
                <a:spcPts val="1582"/>
              </a:lnSpc>
              <a:spcBef>
                <a:spcPct val="0"/>
              </a:spcBef>
            </a:pPr>
            <a:r>
              <a:rPr lang="en-US" sz="1130">
                <a:solidFill>
                  <a:srgbClr val="000000"/>
                </a:solidFill>
                <a:latin typeface="Open Sans"/>
                <a:ea typeface="Open Sans"/>
                <a:cs typeface="Open Sans"/>
                <a:sym typeface="Open Sans"/>
              </a:rPr>
              <a:t>AI Insights / Predictions</a:t>
            </a:r>
          </a:p>
        </p:txBody>
      </p:sp>
      <p:grpSp>
        <p:nvGrpSpPr>
          <p:cNvPr name="Group 107" id="107"/>
          <p:cNvGrpSpPr/>
          <p:nvPr/>
        </p:nvGrpSpPr>
        <p:grpSpPr>
          <a:xfrm rot="0">
            <a:off x="145925" y="6408958"/>
            <a:ext cx="3656984" cy="2818366"/>
            <a:chOff x="0" y="0"/>
            <a:chExt cx="2742022" cy="2113223"/>
          </a:xfrm>
        </p:grpSpPr>
        <p:sp>
          <p:nvSpPr>
            <p:cNvPr name="Freeform 108" id="108"/>
            <p:cNvSpPr/>
            <p:nvPr/>
          </p:nvSpPr>
          <p:spPr>
            <a:xfrm flipH="false" flipV="false" rot="0">
              <a:off x="0" y="0"/>
              <a:ext cx="2742022" cy="2113223"/>
            </a:xfrm>
            <a:custGeom>
              <a:avLst/>
              <a:gdLst/>
              <a:ahLst/>
              <a:cxnLst/>
              <a:rect r="r" b="b" t="t" l="l"/>
              <a:pathLst>
                <a:path h="2113223" w="2742022">
                  <a:moveTo>
                    <a:pt x="0" y="0"/>
                  </a:moveTo>
                  <a:lnTo>
                    <a:pt x="2742022" y="0"/>
                  </a:lnTo>
                  <a:lnTo>
                    <a:pt x="2742022" y="2113223"/>
                  </a:lnTo>
                  <a:lnTo>
                    <a:pt x="0" y="2113223"/>
                  </a:lnTo>
                  <a:close/>
                </a:path>
              </a:pathLst>
            </a:custGeom>
            <a:solidFill>
              <a:srgbClr val="DAF0BD"/>
            </a:solidFill>
            <a:ln w="19050" cap="sq">
              <a:solidFill>
                <a:srgbClr val="000000"/>
              </a:solidFill>
              <a:prstDash val="solid"/>
              <a:miter/>
            </a:ln>
          </p:spPr>
        </p:sp>
        <p:sp>
          <p:nvSpPr>
            <p:cNvPr name="TextBox 109" id="109"/>
            <p:cNvSpPr txBox="true"/>
            <p:nvPr/>
          </p:nvSpPr>
          <p:spPr>
            <a:xfrm>
              <a:off x="0" y="0"/>
              <a:ext cx="2742022" cy="2113223"/>
            </a:xfrm>
            <a:prstGeom prst="rect">
              <a:avLst/>
            </a:prstGeom>
          </p:spPr>
          <p:txBody>
            <a:bodyPr anchor="ctr" rtlCol="false" tIns="12291" lIns="12291" bIns="12291" rIns="12291"/>
            <a:lstStyle/>
            <a:p>
              <a:pPr algn="ctr">
                <a:lnSpc>
                  <a:spcPts val="528"/>
                </a:lnSpc>
              </a:pPr>
            </a:p>
          </p:txBody>
        </p:sp>
      </p:grpSp>
      <p:grpSp>
        <p:nvGrpSpPr>
          <p:cNvPr name="Group 110" id="110"/>
          <p:cNvGrpSpPr/>
          <p:nvPr/>
        </p:nvGrpSpPr>
        <p:grpSpPr>
          <a:xfrm rot="0">
            <a:off x="538379" y="7091118"/>
            <a:ext cx="2694178" cy="1953703"/>
            <a:chOff x="0" y="0"/>
            <a:chExt cx="2020106" cy="1464894"/>
          </a:xfrm>
        </p:grpSpPr>
        <p:sp>
          <p:nvSpPr>
            <p:cNvPr name="Freeform 111" id="111"/>
            <p:cNvSpPr/>
            <p:nvPr/>
          </p:nvSpPr>
          <p:spPr>
            <a:xfrm flipH="false" flipV="false" rot="0">
              <a:off x="0" y="0"/>
              <a:ext cx="2020106" cy="1464894"/>
            </a:xfrm>
            <a:custGeom>
              <a:avLst/>
              <a:gdLst/>
              <a:ahLst/>
              <a:cxnLst/>
              <a:rect r="r" b="b" t="t" l="l"/>
              <a:pathLst>
                <a:path h="1464894" w="2020106">
                  <a:moveTo>
                    <a:pt x="0" y="0"/>
                  </a:moveTo>
                  <a:lnTo>
                    <a:pt x="2020106" y="0"/>
                  </a:lnTo>
                  <a:lnTo>
                    <a:pt x="2020106" y="1464894"/>
                  </a:lnTo>
                  <a:lnTo>
                    <a:pt x="0" y="1464894"/>
                  </a:lnTo>
                  <a:close/>
                </a:path>
              </a:pathLst>
            </a:custGeom>
            <a:solidFill>
              <a:srgbClr val="E0B3B3"/>
            </a:solidFill>
            <a:ln cap="sq">
              <a:noFill/>
              <a:prstDash val="solid"/>
              <a:miter/>
            </a:ln>
          </p:spPr>
        </p:sp>
        <p:sp>
          <p:nvSpPr>
            <p:cNvPr name="TextBox 112" id="112"/>
            <p:cNvSpPr txBox="true"/>
            <p:nvPr/>
          </p:nvSpPr>
          <p:spPr>
            <a:xfrm>
              <a:off x="0" y="0"/>
              <a:ext cx="2020106" cy="1464894"/>
            </a:xfrm>
            <a:prstGeom prst="rect">
              <a:avLst/>
            </a:prstGeom>
          </p:spPr>
          <p:txBody>
            <a:bodyPr anchor="ctr" rtlCol="false" tIns="12291" lIns="12291" bIns="12291" rIns="12291"/>
            <a:lstStyle/>
            <a:p>
              <a:pPr algn="ctr">
                <a:lnSpc>
                  <a:spcPts val="528"/>
                </a:lnSpc>
              </a:pPr>
            </a:p>
          </p:txBody>
        </p:sp>
      </p:grpSp>
      <p:sp>
        <p:nvSpPr>
          <p:cNvPr name="TextBox 113" id="113"/>
          <p:cNvSpPr txBox="true"/>
          <p:nvPr/>
        </p:nvSpPr>
        <p:spPr>
          <a:xfrm rot="0">
            <a:off x="504649" y="6481665"/>
            <a:ext cx="2982952" cy="313928"/>
          </a:xfrm>
          <a:prstGeom prst="rect">
            <a:avLst/>
          </a:prstGeom>
        </p:spPr>
        <p:txBody>
          <a:bodyPr anchor="t" rtlCol="false" tIns="0" lIns="0" bIns="0" rIns="0">
            <a:spAutoFit/>
          </a:bodyPr>
          <a:lstStyle/>
          <a:p>
            <a:pPr algn="ctr" marL="0" indent="0" lvl="0">
              <a:lnSpc>
                <a:spcPts val="2388"/>
              </a:lnSpc>
              <a:spcBef>
                <a:spcPct val="0"/>
              </a:spcBef>
            </a:pPr>
            <a:r>
              <a:rPr lang="en-US" b="true" sz="1705">
                <a:solidFill>
                  <a:srgbClr val="000000"/>
                </a:solidFill>
                <a:latin typeface="Poppins Bold"/>
                <a:ea typeface="Poppins Bold"/>
                <a:cs typeface="Poppins Bold"/>
                <a:sym typeface="Poppins Bold"/>
              </a:rPr>
              <a:t>External &amp; U</a:t>
            </a:r>
            <a:r>
              <a:rPr lang="en-US" b="true" sz="1705" strike="noStrike" u="none">
                <a:solidFill>
                  <a:srgbClr val="000000"/>
                </a:solidFill>
                <a:latin typeface="Poppins Bold"/>
                <a:ea typeface="Poppins Bold"/>
                <a:cs typeface="Poppins Bold"/>
                <a:sym typeface="Poppins Bold"/>
              </a:rPr>
              <a:t>tility Services</a:t>
            </a:r>
          </a:p>
        </p:txBody>
      </p:sp>
      <p:sp>
        <p:nvSpPr>
          <p:cNvPr name="TextBox 114" id="114"/>
          <p:cNvSpPr txBox="true"/>
          <p:nvPr/>
        </p:nvSpPr>
        <p:spPr>
          <a:xfrm rot="0">
            <a:off x="606444" y="7165281"/>
            <a:ext cx="2626586" cy="1742242"/>
          </a:xfrm>
          <a:prstGeom prst="rect">
            <a:avLst/>
          </a:prstGeom>
        </p:spPr>
        <p:txBody>
          <a:bodyPr anchor="t" rtlCol="false" tIns="0" lIns="0" bIns="0" rIns="0">
            <a:spAutoFit/>
          </a:bodyPr>
          <a:lstStyle/>
          <a:p>
            <a:pPr algn="l" marL="268097" indent="-134049" lvl="1">
              <a:lnSpc>
                <a:spcPts val="1738"/>
              </a:lnSpc>
              <a:buFont typeface="Arial"/>
              <a:buChar char="•"/>
            </a:pPr>
            <a:r>
              <a:rPr lang="en-US" sz="1241">
                <a:solidFill>
                  <a:srgbClr val="000000"/>
                </a:solidFill>
                <a:latin typeface="Open Sans"/>
                <a:ea typeface="Open Sans"/>
                <a:cs typeface="Open Sans"/>
                <a:sym typeface="Open Sans"/>
              </a:rPr>
              <a:t>Paym</a:t>
            </a:r>
            <a:r>
              <a:rPr lang="en-US" sz="1241">
                <a:solidFill>
                  <a:srgbClr val="000000"/>
                </a:solidFill>
                <a:latin typeface="Open Sans"/>
                <a:ea typeface="Open Sans"/>
                <a:cs typeface="Open Sans"/>
                <a:sym typeface="Open Sans"/>
              </a:rPr>
              <a:t>ent Processing (Razorpay)</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QR Code Generation</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Map &amp; Location API (Leaflet)</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Email Notification Service</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Cloud Deployment (AWS / Render)</a:t>
            </a:r>
          </a:p>
          <a:p>
            <a:pPr algn="l" marL="268097" indent="-134049" lvl="1">
              <a:lnSpc>
                <a:spcPts val="1738"/>
              </a:lnSpc>
              <a:buFont typeface="Arial"/>
              <a:buChar char="•"/>
            </a:pPr>
            <a:r>
              <a:rPr lang="en-US" sz="1241">
                <a:solidFill>
                  <a:srgbClr val="000000"/>
                </a:solidFill>
                <a:latin typeface="Open Sans"/>
                <a:ea typeface="Open Sans"/>
                <a:cs typeface="Open Sans"/>
                <a:sym typeface="Open Sans"/>
              </a:rPr>
              <a:t>Analytics Visualization (Charts.js)</a:t>
            </a:r>
          </a:p>
        </p:txBody>
      </p:sp>
      <p:sp>
        <p:nvSpPr>
          <p:cNvPr name="TextBox 115" id="115"/>
          <p:cNvSpPr txBox="true"/>
          <p:nvPr/>
        </p:nvSpPr>
        <p:spPr>
          <a:xfrm rot="0">
            <a:off x="489047" y="6800758"/>
            <a:ext cx="2956512" cy="201158"/>
          </a:xfrm>
          <a:prstGeom prst="rect">
            <a:avLst/>
          </a:prstGeom>
        </p:spPr>
        <p:txBody>
          <a:bodyPr anchor="t" rtlCol="false" tIns="0" lIns="0" bIns="0" rIns="0">
            <a:spAutoFit/>
          </a:bodyPr>
          <a:lstStyle/>
          <a:p>
            <a:pPr algn="ctr">
              <a:lnSpc>
                <a:spcPts val="1683"/>
              </a:lnSpc>
              <a:spcBef>
                <a:spcPct val="0"/>
              </a:spcBef>
            </a:pPr>
            <a:r>
              <a:rPr lang="en-US" sz="1202">
                <a:solidFill>
                  <a:srgbClr val="000000"/>
                </a:solidFill>
                <a:latin typeface="Open Sans"/>
                <a:ea typeface="Open Sans"/>
                <a:cs typeface="Open Sans"/>
                <a:sym typeface="Open Sans"/>
              </a:rPr>
              <a:t>(Third-Party Integrations &amp; Infrastructure)</a:t>
            </a:r>
          </a:p>
        </p:txBody>
      </p:sp>
      <p:sp>
        <p:nvSpPr>
          <p:cNvPr name="AutoShape 116" id="116"/>
          <p:cNvSpPr/>
          <p:nvPr/>
        </p:nvSpPr>
        <p:spPr>
          <a:xfrm>
            <a:off x="15113209" y="9287970"/>
            <a:ext cx="0" cy="549607"/>
          </a:xfrm>
          <a:prstGeom prst="line">
            <a:avLst/>
          </a:prstGeom>
          <a:ln cap="flat" w="9525">
            <a:solidFill>
              <a:srgbClr val="000000"/>
            </a:solidFill>
            <a:prstDash val="sysDash"/>
            <a:headEnd type="none" len="sm" w="sm"/>
            <a:tailEnd type="none" len="sm" w="sm"/>
          </a:ln>
        </p:spPr>
      </p:sp>
      <p:sp>
        <p:nvSpPr>
          <p:cNvPr name="AutoShape 117" id="117"/>
          <p:cNvSpPr/>
          <p:nvPr/>
        </p:nvSpPr>
        <p:spPr>
          <a:xfrm flipH="true">
            <a:off x="1630085" y="9843232"/>
            <a:ext cx="13483124" cy="0"/>
          </a:xfrm>
          <a:prstGeom prst="line">
            <a:avLst/>
          </a:prstGeom>
          <a:ln cap="flat" w="9525">
            <a:solidFill>
              <a:srgbClr val="000000"/>
            </a:solidFill>
            <a:prstDash val="sysDash"/>
            <a:headEnd type="none" len="sm" w="sm"/>
            <a:tailEnd type="none" len="sm" w="sm"/>
          </a:ln>
        </p:spPr>
      </p:sp>
      <p:sp>
        <p:nvSpPr>
          <p:cNvPr name="AutoShape 118" id="118"/>
          <p:cNvSpPr/>
          <p:nvPr/>
        </p:nvSpPr>
        <p:spPr>
          <a:xfrm flipV="true">
            <a:off x="1619725" y="9253354"/>
            <a:ext cx="8976" cy="589878"/>
          </a:xfrm>
          <a:prstGeom prst="line">
            <a:avLst/>
          </a:prstGeom>
          <a:ln cap="flat" w="19050">
            <a:solidFill>
              <a:srgbClr val="000000"/>
            </a:solidFill>
            <a:prstDash val="sysDot"/>
            <a:headEnd type="none" len="sm" w="sm"/>
            <a:tailEnd type="arrow" len="sm" w="med"/>
          </a:ln>
        </p:spPr>
      </p:sp>
      <p:sp>
        <p:nvSpPr>
          <p:cNvPr name="AutoShape 119" id="119"/>
          <p:cNvSpPr/>
          <p:nvPr/>
        </p:nvSpPr>
        <p:spPr>
          <a:xfrm flipH="true" flipV="true">
            <a:off x="8283378" y="7376203"/>
            <a:ext cx="900527" cy="0"/>
          </a:xfrm>
          <a:prstGeom prst="line">
            <a:avLst/>
          </a:prstGeom>
          <a:ln cap="flat" w="19050">
            <a:solidFill>
              <a:srgbClr val="000000"/>
            </a:solidFill>
            <a:prstDash val="sysDot"/>
            <a:headEnd type="none" len="sm" w="sm"/>
            <a:tailEnd type="arrow" len="sm" w="med"/>
          </a:ln>
        </p:spPr>
      </p:sp>
      <p:sp>
        <p:nvSpPr>
          <p:cNvPr name="TextBox 120" id="120"/>
          <p:cNvSpPr txBox="true"/>
          <p:nvPr/>
        </p:nvSpPr>
        <p:spPr>
          <a:xfrm rot="0">
            <a:off x="8209617" y="6963259"/>
            <a:ext cx="1118428" cy="319847"/>
          </a:xfrm>
          <a:prstGeom prst="rect">
            <a:avLst/>
          </a:prstGeom>
        </p:spPr>
        <p:txBody>
          <a:bodyPr anchor="t" rtlCol="false" tIns="0" lIns="0" bIns="0" rIns="0">
            <a:spAutoFit/>
          </a:bodyPr>
          <a:lstStyle/>
          <a:p>
            <a:pPr algn="ctr">
              <a:lnSpc>
                <a:spcPts val="1276"/>
              </a:lnSpc>
              <a:spcBef>
                <a:spcPct val="0"/>
              </a:spcBef>
            </a:pPr>
            <a:r>
              <a:rPr lang="en-US" sz="912">
                <a:solidFill>
                  <a:srgbClr val="000000"/>
                </a:solidFill>
                <a:latin typeface="Open Sans"/>
                <a:ea typeface="Open Sans"/>
                <a:cs typeface="Open Sans"/>
                <a:sym typeface="Open Sans"/>
              </a:rPr>
              <a:t>Analytics Data Retrieval</a:t>
            </a:r>
          </a:p>
        </p:txBody>
      </p:sp>
      <p:sp>
        <p:nvSpPr>
          <p:cNvPr name="Freeform 121" id="121"/>
          <p:cNvSpPr/>
          <p:nvPr/>
        </p:nvSpPr>
        <p:spPr>
          <a:xfrm flipH="false" flipV="false" rot="0">
            <a:off x="17026542" y="-132355"/>
            <a:ext cx="1104745" cy="1510762"/>
          </a:xfrm>
          <a:custGeom>
            <a:avLst/>
            <a:gdLst/>
            <a:ahLst/>
            <a:cxnLst/>
            <a:rect r="r" b="b" t="t" l="l"/>
            <a:pathLst>
              <a:path h="1510762" w="1104745">
                <a:moveTo>
                  <a:pt x="0" y="0"/>
                </a:moveTo>
                <a:lnTo>
                  <a:pt x="1104745" y="0"/>
                </a:lnTo>
                <a:lnTo>
                  <a:pt x="1104745" y="1510762"/>
                </a:lnTo>
                <a:lnTo>
                  <a:pt x="0" y="1510762"/>
                </a:lnTo>
                <a:lnTo>
                  <a:pt x="0" y="0"/>
                </a:lnTo>
                <a:close/>
              </a:path>
            </a:pathLst>
          </a:custGeom>
          <a:blipFill>
            <a:blip r:embed="rId1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72" y="3985517"/>
            <a:ext cx="17950082" cy="5030591"/>
          </a:xfrm>
          <a:custGeom>
            <a:avLst/>
            <a:gdLst/>
            <a:ahLst/>
            <a:cxnLst/>
            <a:rect r="r" b="b" t="t" l="l"/>
            <a:pathLst>
              <a:path h="5030591" w="17950082">
                <a:moveTo>
                  <a:pt x="0" y="0"/>
                </a:moveTo>
                <a:lnTo>
                  <a:pt x="17950081" y="0"/>
                </a:lnTo>
                <a:lnTo>
                  <a:pt x="17950081" y="5030591"/>
                </a:lnTo>
                <a:lnTo>
                  <a:pt x="0" y="50305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398589" y="91964"/>
            <a:ext cx="7640384" cy="1039301"/>
          </a:xfrm>
          <a:prstGeom prst="rect">
            <a:avLst/>
          </a:prstGeom>
        </p:spPr>
        <p:txBody>
          <a:bodyPr anchor="t" rtlCol="false" tIns="0" lIns="0" bIns="0" rIns="0">
            <a:spAutoFit/>
          </a:bodyPr>
          <a:lstStyle/>
          <a:p>
            <a:pPr algn="l">
              <a:lnSpc>
                <a:spcPts val="8396"/>
              </a:lnSpc>
            </a:pPr>
            <a:r>
              <a:rPr lang="en-US" b="true" sz="5997">
                <a:solidFill>
                  <a:srgbClr val="0F232E"/>
                </a:solidFill>
                <a:latin typeface="Times New Roman Bold"/>
                <a:ea typeface="Times New Roman Bold"/>
                <a:cs typeface="Times New Roman Bold"/>
                <a:sym typeface="Times New Roman Bold"/>
              </a:rPr>
              <a:t>INNOVATION &amp; USP</a:t>
            </a:r>
          </a:p>
        </p:txBody>
      </p:sp>
      <p:sp>
        <p:nvSpPr>
          <p:cNvPr name="TextBox 4" id="4"/>
          <p:cNvSpPr txBox="true"/>
          <p:nvPr/>
        </p:nvSpPr>
        <p:spPr>
          <a:xfrm rot="0">
            <a:off x="7031819" y="1464635"/>
            <a:ext cx="3137125" cy="488423"/>
          </a:xfrm>
          <a:prstGeom prst="rect">
            <a:avLst/>
          </a:prstGeom>
        </p:spPr>
        <p:txBody>
          <a:bodyPr anchor="t" rtlCol="false" tIns="0" lIns="0" bIns="0" rIns="0">
            <a:spAutoFit/>
          </a:bodyPr>
          <a:lstStyle/>
          <a:p>
            <a:pPr algn="l">
              <a:lnSpc>
                <a:spcPts val="3823"/>
              </a:lnSpc>
            </a:pPr>
            <a:r>
              <a:rPr lang="en-US" b="true" sz="2918">
                <a:solidFill>
                  <a:srgbClr val="000000"/>
                </a:solidFill>
                <a:latin typeface="Open Sans Bold"/>
                <a:ea typeface="Open Sans Bold"/>
                <a:cs typeface="Open Sans Bold"/>
                <a:sym typeface="Open Sans Bold"/>
              </a:rPr>
              <a:t>Core Innovation:</a:t>
            </a:r>
          </a:p>
        </p:txBody>
      </p:sp>
      <p:sp>
        <p:nvSpPr>
          <p:cNvPr name="TextBox 5" id="5"/>
          <p:cNvSpPr txBox="true"/>
          <p:nvPr/>
        </p:nvSpPr>
        <p:spPr>
          <a:xfrm rot="0">
            <a:off x="9593999" y="2219754"/>
            <a:ext cx="67942" cy="413318"/>
          </a:xfrm>
          <a:prstGeom prst="rect">
            <a:avLst/>
          </a:prstGeom>
        </p:spPr>
        <p:txBody>
          <a:bodyPr anchor="t" rtlCol="false" tIns="0" lIns="0" bIns="0" rIns="0">
            <a:spAutoFit/>
          </a:bodyPr>
          <a:lstStyle/>
          <a:p>
            <a:pPr algn="l">
              <a:lnSpc>
                <a:spcPts val="3373"/>
              </a:lnSpc>
            </a:pPr>
            <a:r>
              <a:rPr lang="en-US" sz="2019">
                <a:solidFill>
                  <a:srgbClr val="000000"/>
                </a:solidFill>
                <a:latin typeface="Open Sans"/>
                <a:ea typeface="Open Sans"/>
                <a:cs typeface="Open Sans"/>
                <a:sym typeface="Open Sans"/>
              </a:rPr>
              <a:t> </a:t>
            </a:r>
          </a:p>
        </p:txBody>
      </p:sp>
      <p:sp>
        <p:nvSpPr>
          <p:cNvPr name="TextBox 6" id="6"/>
          <p:cNvSpPr txBox="true"/>
          <p:nvPr/>
        </p:nvSpPr>
        <p:spPr>
          <a:xfrm rot="0">
            <a:off x="1084421" y="2096246"/>
            <a:ext cx="16174879" cy="1614306"/>
          </a:xfrm>
          <a:prstGeom prst="rect">
            <a:avLst/>
          </a:prstGeom>
        </p:spPr>
        <p:txBody>
          <a:bodyPr anchor="t" rtlCol="false" tIns="0" lIns="0" bIns="0" rIns="0">
            <a:spAutoFit/>
          </a:bodyPr>
          <a:lstStyle/>
          <a:p>
            <a:pPr algn="l">
              <a:lnSpc>
                <a:spcPts val="2618"/>
              </a:lnSpc>
            </a:pPr>
            <a:r>
              <a:rPr lang="en-US" sz="1905">
                <a:solidFill>
                  <a:srgbClr val="000000"/>
                </a:solidFill>
                <a:latin typeface="Open Sans"/>
                <a:ea typeface="Open Sans"/>
                <a:cs typeface="Open Sans"/>
                <a:sym typeface="Open Sans"/>
              </a:rPr>
              <a:t>RePlate introduces an AI-powered surplus food redistribution ecosystem that combines real-time inventory intelligence, dynamic expiry-based pricing, and intelligent demand prediction within a single digital marketplace. By leveraging artificial intelligence and location-aware discovery, the platform ensures that surplus food from restaurants, bakeries, and grocery stores is efficiently matched with nearby consumers and NGOs before it expires. Unlike traditional donation systems, RePlate transforms surplus food management into a structured, data-driven, and economically sustainable solution that reduces waste while maximizing food accessibility.</a:t>
            </a:r>
          </a:p>
        </p:txBody>
      </p:sp>
      <p:sp>
        <p:nvSpPr>
          <p:cNvPr name="TextBox 7" id="7"/>
          <p:cNvSpPr txBox="true"/>
          <p:nvPr/>
        </p:nvSpPr>
        <p:spPr>
          <a:xfrm rot="0">
            <a:off x="3991889" y="4120344"/>
            <a:ext cx="9902190" cy="464344"/>
          </a:xfrm>
          <a:prstGeom prst="rect">
            <a:avLst/>
          </a:prstGeom>
        </p:spPr>
        <p:txBody>
          <a:bodyPr anchor="t" rtlCol="false" tIns="0" lIns="0" bIns="0" rIns="0">
            <a:spAutoFit/>
          </a:bodyPr>
          <a:lstStyle/>
          <a:p>
            <a:pPr algn="l">
              <a:lnSpc>
                <a:spcPts val="3806"/>
              </a:lnSpc>
            </a:pPr>
            <a:r>
              <a:rPr lang="en-US" b="true" sz="2718">
                <a:solidFill>
                  <a:srgbClr val="000000"/>
                </a:solidFill>
                <a:latin typeface="Open Sans Bold"/>
                <a:ea typeface="Open Sans Bold"/>
                <a:cs typeface="Open Sans Bold"/>
                <a:sym typeface="Open Sans Bold"/>
              </a:rPr>
              <a:t>Unique Selling Proposition (USP) / Competitive Advantage</a:t>
            </a:r>
          </a:p>
        </p:txBody>
      </p:sp>
      <p:sp>
        <p:nvSpPr>
          <p:cNvPr name="TextBox 8" id="8"/>
          <p:cNvSpPr txBox="true"/>
          <p:nvPr/>
        </p:nvSpPr>
        <p:spPr>
          <a:xfrm rot="0">
            <a:off x="298056" y="5901090"/>
            <a:ext cx="3840537" cy="1109367"/>
          </a:xfrm>
          <a:prstGeom prst="rect">
            <a:avLst/>
          </a:prstGeom>
        </p:spPr>
        <p:txBody>
          <a:bodyPr anchor="t" rtlCol="false" tIns="0" lIns="0" bIns="0" rIns="0">
            <a:spAutoFit/>
          </a:bodyPr>
          <a:lstStyle/>
          <a:p>
            <a:pPr algn="ctr">
              <a:lnSpc>
                <a:spcPts val="1946"/>
              </a:lnSpc>
            </a:pPr>
            <a:r>
              <a:rPr lang="en-US" b="true" sz="1390">
                <a:solidFill>
                  <a:srgbClr val="A90707"/>
                </a:solidFill>
                <a:latin typeface="Open Sans Bold"/>
                <a:ea typeface="Open Sans Bold"/>
                <a:cs typeface="Open Sans Bold"/>
                <a:sym typeface="Open Sans Bold"/>
              </a:rPr>
              <a:t>End-to-End Surplus Lifecycle Management:</a:t>
            </a:r>
          </a:p>
          <a:p>
            <a:pPr algn="ctr">
              <a:lnSpc>
                <a:spcPts val="1799"/>
              </a:lnSpc>
            </a:pPr>
            <a:r>
              <a:rPr lang="en-US" sz="1290">
                <a:solidFill>
                  <a:srgbClr val="000000"/>
                </a:solidFill>
                <a:latin typeface="Open Sans"/>
                <a:ea typeface="Open Sans"/>
                <a:cs typeface="Open Sans"/>
                <a:sym typeface="Open Sans"/>
              </a:rPr>
              <a:t>Manages the complete journey of surplus food from AI-assisted listing and dynamic pricing to verified pickup, ensuring efficient redistribution and minimizing food waste.</a:t>
            </a:r>
          </a:p>
        </p:txBody>
      </p:sp>
      <p:sp>
        <p:nvSpPr>
          <p:cNvPr name="TextBox 9" id="9"/>
          <p:cNvSpPr txBox="true"/>
          <p:nvPr/>
        </p:nvSpPr>
        <p:spPr>
          <a:xfrm rot="0">
            <a:off x="3732516" y="7479187"/>
            <a:ext cx="3664734" cy="1228620"/>
          </a:xfrm>
          <a:prstGeom prst="rect">
            <a:avLst/>
          </a:prstGeom>
        </p:spPr>
        <p:txBody>
          <a:bodyPr anchor="t" rtlCol="false" tIns="0" lIns="0" bIns="0" rIns="0">
            <a:spAutoFit/>
          </a:bodyPr>
          <a:lstStyle/>
          <a:p>
            <a:pPr algn="ctr">
              <a:lnSpc>
                <a:spcPts val="1951"/>
              </a:lnSpc>
            </a:pPr>
            <a:r>
              <a:rPr lang="en-US" b="true" sz="1438">
                <a:solidFill>
                  <a:srgbClr val="A90707"/>
                </a:solidFill>
                <a:latin typeface="Open Sans Bold"/>
                <a:ea typeface="Open Sans Bold"/>
                <a:cs typeface="Open Sans Bold"/>
                <a:sym typeface="Open Sans Bold"/>
              </a:rPr>
              <a:t>AI</a:t>
            </a:r>
            <a:r>
              <a:rPr lang="en-US" b="true" sz="1438">
                <a:solidFill>
                  <a:srgbClr val="A90707"/>
                </a:solidFill>
                <a:latin typeface="Open Sans Bold"/>
                <a:ea typeface="Open Sans Bold"/>
                <a:cs typeface="Open Sans Bold"/>
                <a:sym typeface="Open Sans Bold"/>
              </a:rPr>
              <a:t>-Driven Expiry Smart Discount Engine</a:t>
            </a:r>
          </a:p>
          <a:p>
            <a:pPr algn="ctr">
              <a:lnSpc>
                <a:spcPts val="1951"/>
              </a:lnSpc>
            </a:pPr>
            <a:r>
              <a:rPr lang="en-US" sz="1438">
                <a:solidFill>
                  <a:srgbClr val="000000"/>
                </a:solidFill>
                <a:latin typeface="Open Sans"/>
                <a:ea typeface="Open Sans"/>
                <a:cs typeface="Open Sans"/>
                <a:sym typeface="Open Sans"/>
              </a:rPr>
              <a:t>Uses A</a:t>
            </a:r>
            <a:r>
              <a:rPr lang="en-US" sz="1438">
                <a:solidFill>
                  <a:srgbClr val="000000"/>
                </a:solidFill>
                <a:latin typeface="Open Sans"/>
                <a:ea typeface="Open Sans"/>
                <a:cs typeface="Open Sans"/>
                <a:sym typeface="Open Sans"/>
              </a:rPr>
              <a:t>I-based demand forecasting and expiry analysis to</a:t>
            </a:r>
            <a:r>
              <a:rPr lang="en-US" sz="1438">
                <a:solidFill>
                  <a:srgbClr val="000000"/>
                </a:solidFill>
                <a:latin typeface="Open Sans"/>
                <a:ea typeface="Open Sans"/>
                <a:cs typeface="Open Sans"/>
                <a:sym typeface="Open Sans"/>
              </a:rPr>
              <a:t> </a:t>
            </a:r>
            <a:r>
              <a:rPr lang="en-US" sz="1438">
                <a:solidFill>
                  <a:srgbClr val="000000"/>
                </a:solidFill>
                <a:latin typeface="Open Sans"/>
                <a:ea typeface="Open Sans"/>
                <a:cs typeface="Open Sans"/>
                <a:sym typeface="Open Sans"/>
              </a:rPr>
              <a:t>automatically suggest optimal discounts, increasing the chances of selling surplus food before it spoils.</a:t>
            </a:r>
          </a:p>
        </p:txBody>
      </p:sp>
      <p:sp>
        <p:nvSpPr>
          <p:cNvPr name="TextBox 10" id="10"/>
          <p:cNvSpPr txBox="true"/>
          <p:nvPr/>
        </p:nvSpPr>
        <p:spPr>
          <a:xfrm rot="0">
            <a:off x="4996215" y="7857373"/>
            <a:ext cx="48406" cy="245650"/>
          </a:xfrm>
          <a:prstGeom prst="rect">
            <a:avLst/>
          </a:prstGeom>
        </p:spPr>
        <p:txBody>
          <a:bodyPr anchor="t" rtlCol="false" tIns="0" lIns="0" bIns="0" rIns="0">
            <a:spAutoFit/>
          </a:bodyPr>
          <a:lstStyle/>
          <a:p>
            <a:pPr algn="l">
              <a:lnSpc>
                <a:spcPts val="1934"/>
              </a:lnSpc>
            </a:pPr>
            <a:r>
              <a:rPr lang="en-US" sz="1438">
                <a:solidFill>
                  <a:srgbClr val="000000"/>
                </a:solidFill>
                <a:latin typeface="Open Sans"/>
                <a:ea typeface="Open Sans"/>
                <a:cs typeface="Open Sans"/>
                <a:sym typeface="Open Sans"/>
              </a:rPr>
              <a:t> </a:t>
            </a:r>
          </a:p>
        </p:txBody>
      </p:sp>
      <p:sp>
        <p:nvSpPr>
          <p:cNvPr name="TextBox 11" id="11"/>
          <p:cNvSpPr txBox="true"/>
          <p:nvPr/>
        </p:nvSpPr>
        <p:spPr>
          <a:xfrm rot="0">
            <a:off x="10594134" y="7590234"/>
            <a:ext cx="3679305" cy="1308672"/>
          </a:xfrm>
          <a:prstGeom prst="rect">
            <a:avLst/>
          </a:prstGeom>
        </p:spPr>
        <p:txBody>
          <a:bodyPr anchor="t" rtlCol="false" tIns="0" lIns="0" bIns="0" rIns="0">
            <a:spAutoFit/>
          </a:bodyPr>
          <a:lstStyle/>
          <a:p>
            <a:pPr algn="ctr">
              <a:lnSpc>
                <a:spcPts val="1783"/>
              </a:lnSpc>
            </a:pPr>
            <a:r>
              <a:rPr lang="en-US" b="true" sz="1288">
                <a:solidFill>
                  <a:srgbClr val="A90707"/>
                </a:solidFill>
                <a:latin typeface="Open Sans Bold"/>
                <a:ea typeface="Open Sans Bold"/>
                <a:cs typeface="Open Sans Bold"/>
                <a:sym typeface="Open Sans Bold"/>
              </a:rPr>
              <a:t>Verified QR-Based Pickup Authentication: </a:t>
            </a:r>
          </a:p>
          <a:p>
            <a:pPr algn="ctr">
              <a:lnSpc>
                <a:spcPts val="1783"/>
              </a:lnSpc>
            </a:pPr>
            <a:r>
              <a:rPr lang="en-US" sz="1288">
                <a:solidFill>
                  <a:srgbClr val="000000"/>
                </a:solidFill>
                <a:latin typeface="Open Sans"/>
                <a:ea typeface="Open Sans"/>
                <a:cs typeface="Open Sans"/>
                <a:sym typeface="Open Sans"/>
              </a:rPr>
              <a:t>Ens</a:t>
            </a:r>
            <a:r>
              <a:rPr lang="en-US" sz="1288">
                <a:solidFill>
                  <a:srgbClr val="000000"/>
                </a:solidFill>
                <a:latin typeface="Open Sans"/>
                <a:ea typeface="Open Sans"/>
                <a:cs typeface="Open Sans"/>
                <a:sym typeface="Open Sans"/>
              </a:rPr>
              <a:t>ures secure and transparent order fulfillment through QR-based pickup verification, reducing fraud and ensuring accountability.</a:t>
            </a:r>
          </a:p>
          <a:p>
            <a:pPr algn="ctr">
              <a:lnSpc>
                <a:spcPts val="1783"/>
              </a:lnSpc>
            </a:pPr>
          </a:p>
        </p:txBody>
      </p:sp>
      <p:sp>
        <p:nvSpPr>
          <p:cNvPr name="TextBox 12" id="12"/>
          <p:cNvSpPr txBox="true"/>
          <p:nvPr/>
        </p:nvSpPr>
        <p:spPr>
          <a:xfrm rot="0">
            <a:off x="7031819" y="5737212"/>
            <a:ext cx="3785464" cy="1426258"/>
          </a:xfrm>
          <a:prstGeom prst="rect">
            <a:avLst/>
          </a:prstGeom>
        </p:spPr>
        <p:txBody>
          <a:bodyPr anchor="t" rtlCol="false" tIns="0" lIns="0" bIns="0" rIns="0">
            <a:spAutoFit/>
          </a:bodyPr>
          <a:lstStyle/>
          <a:p>
            <a:pPr algn="ctr">
              <a:lnSpc>
                <a:spcPts val="1875"/>
              </a:lnSpc>
            </a:pPr>
            <a:r>
              <a:rPr lang="en-US" b="true" sz="1359">
                <a:solidFill>
                  <a:srgbClr val="A90707"/>
                </a:solidFill>
                <a:latin typeface="Open Sans Bold"/>
                <a:ea typeface="Open Sans Bold"/>
                <a:cs typeface="Open Sans Bold"/>
                <a:sym typeface="Open Sans Bold"/>
              </a:rPr>
              <a:t>Embedded Sustainability Impact Analytics </a:t>
            </a:r>
            <a:r>
              <a:rPr lang="en-US" sz="1359">
                <a:solidFill>
                  <a:srgbClr val="000000"/>
                </a:solidFill>
                <a:latin typeface="Open Sans"/>
                <a:ea typeface="Open Sans"/>
                <a:cs typeface="Open Sans"/>
                <a:sym typeface="Open Sans"/>
              </a:rPr>
              <a:t>Integrates carbon footprint estimation and waste reduction analytics, allowing users and administrators to track measurable environmental benefits.</a:t>
            </a:r>
          </a:p>
          <a:p>
            <a:pPr algn="ctr">
              <a:lnSpc>
                <a:spcPts val="1875"/>
              </a:lnSpc>
            </a:pPr>
          </a:p>
        </p:txBody>
      </p:sp>
      <p:sp>
        <p:nvSpPr>
          <p:cNvPr name="TextBox 13" id="13"/>
          <p:cNvSpPr txBox="true"/>
          <p:nvPr/>
        </p:nvSpPr>
        <p:spPr>
          <a:xfrm rot="0">
            <a:off x="14018466" y="5660233"/>
            <a:ext cx="3992223" cy="1350224"/>
          </a:xfrm>
          <a:prstGeom prst="rect">
            <a:avLst/>
          </a:prstGeom>
        </p:spPr>
        <p:txBody>
          <a:bodyPr anchor="t" rtlCol="false" tIns="0" lIns="0" bIns="0" rIns="0">
            <a:spAutoFit/>
          </a:bodyPr>
          <a:lstStyle/>
          <a:p>
            <a:pPr algn="ctr">
              <a:lnSpc>
                <a:spcPts val="1832"/>
              </a:lnSpc>
            </a:pPr>
            <a:r>
              <a:rPr lang="en-US" b="true" sz="1313">
                <a:solidFill>
                  <a:srgbClr val="A90707"/>
                </a:solidFill>
                <a:latin typeface="Open Sans Bold"/>
                <a:ea typeface="Open Sans Bold"/>
                <a:cs typeface="Open Sans Bold"/>
                <a:sym typeface="Open Sans Bold"/>
              </a:rPr>
              <a:t>Dual-Value Marketplace Model: </a:t>
            </a:r>
          </a:p>
          <a:p>
            <a:pPr algn="ctr">
              <a:lnSpc>
                <a:spcPts val="1832"/>
              </a:lnSpc>
            </a:pPr>
            <a:r>
              <a:rPr lang="en-US" sz="1313">
                <a:solidFill>
                  <a:srgbClr val="000000"/>
                </a:solidFill>
                <a:latin typeface="Open Sans"/>
                <a:ea typeface="Open Sans"/>
                <a:cs typeface="Open Sans"/>
                <a:sym typeface="Open Sans"/>
              </a:rPr>
              <a:t>Creates value for both businesses and consumers by helping businesses recover revenue from surplus inventory while offering affordable food options to nearby consumers.</a:t>
            </a:r>
          </a:p>
          <a:p>
            <a:pPr algn="ctr">
              <a:lnSpc>
                <a:spcPts val="1832"/>
              </a:lnSpc>
            </a:pPr>
          </a:p>
        </p:txBody>
      </p:sp>
      <p:sp>
        <p:nvSpPr>
          <p:cNvPr name="Freeform 14" id="14"/>
          <p:cNvSpPr/>
          <p:nvPr/>
        </p:nvSpPr>
        <p:spPr>
          <a:xfrm flipH="false" flipV="false" rot="0">
            <a:off x="17026542" y="0"/>
            <a:ext cx="1104745" cy="1510762"/>
          </a:xfrm>
          <a:custGeom>
            <a:avLst/>
            <a:gdLst/>
            <a:ahLst/>
            <a:cxnLst/>
            <a:rect r="r" b="b" t="t" l="l"/>
            <a:pathLst>
              <a:path h="1510762" w="1104745">
                <a:moveTo>
                  <a:pt x="0" y="0"/>
                </a:moveTo>
                <a:lnTo>
                  <a:pt x="1104745" y="0"/>
                </a:lnTo>
                <a:lnTo>
                  <a:pt x="1104745" y="1510762"/>
                </a:lnTo>
                <a:lnTo>
                  <a:pt x="0" y="1510762"/>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DAHDJ2M6Mio</dc:identifier>
  <dcterms:modified xsi:type="dcterms:W3CDTF">2011-08-01T06:04:30Z</dcterms:modified>
  <cp:revision>1</cp:revision>
  <dc:title>Copy of SpectraX-format.pptx (4).pdf</dc:title>
</cp:coreProperties>
</file>